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19b7e95b354cde" /><Relationship Type="http://schemas.openxmlformats.org/officeDocument/2006/relationships/extended-properties" Target="/docProps/app.xml" Id="R51ecad2bd70a4844" /><Relationship Type="http://schemas.openxmlformats.org/officeDocument/2006/relationships/officeDocument" Target="/ppt/presentation.xml" Id="R94917fff2a374c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d1dab17c4340c2"/>
  </p:sldMasterIdLst>
  <p:notesMasterIdLst>
    <p:notesMasterId xmlns:r="http://schemas.openxmlformats.org/officeDocument/2006/relationships" r:id="R0a7b6891c8f94323"/>
  </p:notesMasterIdLst>
  <p:sldIdLst>
    <p:sldId xmlns:r="http://schemas.openxmlformats.org/officeDocument/2006/relationships" id="256" r:id="R103d351d56c046c1"/>
    <p:sldId xmlns:r="http://schemas.openxmlformats.org/officeDocument/2006/relationships" id="257" r:id="R088935b97d3841dd"/>
    <p:sldId xmlns:r="http://schemas.openxmlformats.org/officeDocument/2006/relationships" id="258" r:id="R299c59ce8c0c4cb6"/>
    <p:sldId xmlns:r="http://schemas.openxmlformats.org/officeDocument/2006/relationships" id="259" r:id="R44ef103c19494b50"/>
    <p:sldId xmlns:r="http://schemas.openxmlformats.org/officeDocument/2006/relationships" id="260" r:id="Red3de0ea37bb46db"/>
    <p:sldId xmlns:r="http://schemas.openxmlformats.org/officeDocument/2006/relationships" id="261" r:id="R2d904311ee3546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c864c6d0624f03" /><Relationship Type="http://schemas.openxmlformats.org/officeDocument/2006/relationships/slideMaster" Target="/ppt/slideMasters/slideMaster1.xml" Id="R45d1dab17c4340c2" /><Relationship Type="http://schemas.openxmlformats.org/officeDocument/2006/relationships/notesMaster" Target="/ppt/notesMasters/notesMaster1.xml" Id="R0a7b6891c8f94323" /><Relationship Type="http://schemas.openxmlformats.org/officeDocument/2006/relationships/presProps" Target="/ppt/presProps.xml" Id="R35291d17ce784d62" /><Relationship Type="http://schemas.openxmlformats.org/officeDocument/2006/relationships/tableStyles" Target="/ppt/tableStyles.xml" Id="R20107ddace2e4736" /><Relationship Type="http://schemas.openxmlformats.org/officeDocument/2006/relationships/slide" Target="/ppt/slides/slide1.xml" Id="R103d351d56c046c1" /><Relationship Type="http://schemas.openxmlformats.org/officeDocument/2006/relationships/slide" Target="/ppt/slides/slide2.xml" Id="R088935b97d3841dd" /><Relationship Type="http://schemas.openxmlformats.org/officeDocument/2006/relationships/slide" Target="/ppt/slides/slide3.xml" Id="R299c59ce8c0c4cb6" /><Relationship Type="http://schemas.openxmlformats.org/officeDocument/2006/relationships/slide" Target="/ppt/slides/slide4.xml" Id="R44ef103c19494b50" /><Relationship Type="http://schemas.openxmlformats.org/officeDocument/2006/relationships/slide" Target="/ppt/slides/slide5.xml" Id="Red3de0ea37bb46db" /><Relationship Type="http://schemas.openxmlformats.org/officeDocument/2006/relationships/slide" Target="/ppt/slides/slide6.xml" Id="R2d904311ee35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1c39e507cf4d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romova Progress">
      <a:dk1>
        <a:srgbClr val="0D102B"/>
      </a:dk1>
      <a:lt1>
        <a:srgbClr val="FFFFFF"/>
      </a:lt1>
      <a:dk2>
        <a:srgbClr val="111744"/>
      </a:dk2>
      <a:lt2>
        <a:srgbClr val="DED5FF"/>
      </a:lt2>
      <a:accent1>
        <a:srgbClr val="7C60F6"/>
      </a:accent1>
      <a:accent2>
        <a:srgbClr val="4B1FD1"/>
      </a:accent2>
      <a:accent3>
        <a:srgbClr val="A896FF"/>
      </a:accent3>
      <a:accent4>
        <a:srgbClr val="1F9D77"/>
      </a:accent4>
      <a:accent5>
        <a:srgbClr val="CF8A2C"/>
      </a:accent5>
      <a:accent6>
        <a:srgbClr val="C85263"/>
      </a:accent6>
      <a:hlink>
        <a:srgbClr val="4B1FD1"/>
      </a:hlink>
      <a:folHlink>
        <a:srgbClr val="5B34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mova Prog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680aaf1fa34ed8" /><Relationship Type="http://schemas.openxmlformats.org/officeDocument/2006/relationships/notesMaster" Target="/ppt/notesMasters/notesMaster1.xml" Id="R471ad6004c1749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7d4ac59552458d" /><Relationship Type="http://schemas.openxmlformats.org/officeDocument/2006/relationships/notesMaster" Target="/ppt/notesMasters/notesMaster1.xml" Id="Rbca708fa710240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cbfc7fbb924ab4" /><Relationship Type="http://schemas.openxmlformats.org/officeDocument/2006/relationships/notesMaster" Target="/ppt/notesMasters/notesMaster1.xml" Id="R43c0deaa51ac4d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6762362fea4a04" /><Relationship Type="http://schemas.openxmlformats.org/officeDocument/2006/relationships/notesMaster" Target="/ppt/notesMasters/notesMaster1.xml" Id="R984aa7da4a9348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e436a9b1a745a4" /><Relationship Type="http://schemas.openxmlformats.org/officeDocument/2006/relationships/notesMaster" Target="/ppt/notesMasters/notesMaster1.xml" Id="Rf8aa88f632bb4f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10890be43649d1" /><Relationship Type="http://schemas.openxmlformats.org/officeDocument/2006/relationships/notesMaster" Target="/ppt/notesMasters/notesMaster1.xml" Id="R4746b594c80840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com a tensão: avaliações importantes dependem de memória, percepção e evidências dispersas.</a:t>
            </a:r>
          </a:p>
          <a:p xmlns:a="http://schemas.openxmlformats.org/drawingml/2006/main">
            <a:r>
              <a:t>Reforçar que o Promova não automatiza a decisão de promoção.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Promova TCC pitch brief, current conversation.</a:t>
            </a:r>
          </a:p>
          <a:p xmlns:a="http://schemas.openxmlformats.org/drawingml/2006/main">
            <a:r>
              <a:t>- User-provided Promova visual identity guide and embedded logo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Percorrer o fluxo em menos de um minuto e iniciar a demonstração ao vivo do site.</a:t>
            </a:r>
          </a:p>
          <a:p xmlns:a="http://schemas.openxmlformats.org/drawingml/2006/main">
            <a:r>
              <a:t>O MVP também possui backend Spring Boot, endpoints de análise e motor simulado preparado para IA real.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Promova TCC pitch brief, current conversation.</a:t>
            </a:r>
          </a:p>
          <a:p xmlns:a="http://schemas.openxmlformats.org/drawingml/2006/main">
            <a:r>
              <a:t>- User-provided Promova visual identity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recorte inicial sem limitar a expansão futura do produto.</a:t>
            </a:r>
          </a:p>
          <a:p xmlns:a="http://schemas.openxmlformats.org/drawingml/2006/main">
            <a:r>
              <a:t>Não repetir a arquitetura; concentrar a fala no valor para cada participante.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Promova TCC pitch brief, current conversation.</a:t>
            </a:r>
          </a:p>
          <a:p xmlns:a="http://schemas.openxmlformats.org/drawingml/2006/main">
            <a:r>
              <a:t>- User-provided Promova visual identity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os canais ao caráter demonstrável do MVP: pilotos e demonstrações são o ponto de entrada.</a:t>
            </a:r>
          </a:p>
          <a:p xmlns:a="http://schemas.openxmlformats.org/drawingml/2006/main">
            <a:r>
              <a:t>Destacar que a adoção depende de gestores, RH e liderança, com suporte do Promova.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Promova TCC pitch brief, current conversation.</a:t>
            </a:r>
          </a:p>
          <a:p xmlns:a="http://schemas.openxmlformats.org/drawingml/2006/main">
            <a:r>
              <a:t>- User-provided Promova visual identity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Sucesso: adesão, recorrência, volume de evidências e avaliações, evolução e satisfação.</a:t>
            </a:r>
          </a:p>
          <a:p xmlns:a="http://schemas.openxmlformats.org/drawingml/2006/main">
            <a:r>
              <a:t>Precificação informada pelo projeto: custo estimado de R$ 16,66 no Base e R$ 25,20 no Premium, com markup de 80% e comparação de mercado.</a:t>
            </a:r>
          </a:p>
          <a:p xmlns:a="http://schemas.openxmlformats.org/drawingml/2006/main">
            <a:r>
              <a:t>Cenário inicial: 3 empresas com 50 funcionários cada, total de 150 usuários.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Promova TCC pitch brief, current conversation.</a:t>
            </a:r>
          </a:p>
          <a:p xmlns:a="http://schemas.openxmlformats.org/drawingml/2006/main">
            <a:r>
              <a:t>- User-provided Promova visual identity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sem introduzir novos conceitos. Pausar após a frase secundária.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Promova TCC pitch brief, current conversation.</a:t>
            </a:r>
          </a:p>
          <a:p xmlns:a="http://schemas.openxmlformats.org/drawingml/2006/main">
            <a:r>
              <a:t>- User-provided Promova visual identity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7f55f36f540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573c7515604032" /><Relationship Type="http://schemas.openxmlformats.org/officeDocument/2006/relationships/slideLayout" Target="/ppt/slideLayouts/slideLayout1.xml" Id="Re55ad3274ad84e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5ad3274ad84e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romova Progress">
      <a:dk1>
        <a:srgbClr val="0D102B"/>
      </a:dk1>
      <a:lt1>
        <a:srgbClr val="FFFFFF"/>
      </a:lt1>
      <a:dk2>
        <a:srgbClr val="111744"/>
      </a:dk2>
      <a:lt2>
        <a:srgbClr val="DED5FF"/>
      </a:lt2>
      <a:accent1>
        <a:srgbClr val="7C60F6"/>
      </a:accent1>
      <a:accent2>
        <a:srgbClr val="4B1FD1"/>
      </a:accent2>
      <a:accent3>
        <a:srgbClr val="A896FF"/>
      </a:accent3>
      <a:accent4>
        <a:srgbClr val="1F9D77"/>
      </a:accent4>
      <a:accent5>
        <a:srgbClr val="CF8A2C"/>
      </a:accent5>
      <a:accent6>
        <a:srgbClr val="C85263"/>
      </a:accent6>
      <a:hlink>
        <a:srgbClr val="4B1FD1"/>
      </a:hlink>
      <a:folHlink>
        <a:srgbClr val="5B34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mova Prog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7880e804f4b1b" /><Relationship Type="http://schemas.openxmlformats.org/officeDocument/2006/relationships/image" Target="/ppt/media/image.png" Id="R6d83e0d371854133" /><Relationship Type="http://schemas.openxmlformats.org/officeDocument/2006/relationships/notesSlide" Target="/ppt/notesSlides/notesSlide1.xml" Id="R14654906f95442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349bc89fb47fc" /><Relationship Type="http://schemas.openxmlformats.org/officeDocument/2006/relationships/notesSlide" Target="/ppt/notesSlides/notesSlide2.xml" Id="R48761b1e04964d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717b0930e47b0" /><Relationship Type="http://schemas.openxmlformats.org/officeDocument/2006/relationships/notesSlide" Target="/ppt/notesSlides/notesSlide3.xml" Id="Rf9bdb932d3eb4b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62c4f58fc4215" /><Relationship Type="http://schemas.openxmlformats.org/officeDocument/2006/relationships/notesSlide" Target="/ppt/notesSlides/notesSlide4.xml" Id="R1cc45eed0f9e47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0b8c1459144a6" /><Relationship Type="http://schemas.openxmlformats.org/officeDocument/2006/relationships/notesSlide" Target="/ppt/notesSlides/notesSlide5.xml" Id="Ra2aa7e0a48324a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51bc431ca4c78" /><Relationship Type="http://schemas.openxmlformats.org/officeDocument/2006/relationships/notesSlide" Target="/ppt/notesSlides/notesSlide6.xml" Id="Rfbf747df003d44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7CCA9-A567-4DBE-9944-83E44A24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-1619250"/>
            <a:ext cx="5334000" cy="5334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B1FD1"/>
              </a:gs>
              <a:gs pos="100000">
                <a:srgbClr val="0D102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60CD7-0233-41CF-AB28-F828F550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53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1C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0DE96-FD1D-4C8A-B1DE-A643F9D6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8D7F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8D7F1"/>
                </a:solidFill>
                <a:latin typeface="Inter"/>
                <a:ea typeface="Inter"/>
                <a:cs typeface="Inter"/>
              </a:rPr>
              <a:t>PROMOVA  /  TCC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C58A7-3A50-4A6D-A3E8-49174C7A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2450"/>
            <a:ext cx="2171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94F"/>
          </a:solidFill>
          <a:ln xmlns:a="http://schemas.openxmlformats.org/drawingml/2006/main" w="9525">
            <a:solidFill>
              <a:srgbClr val="454875"/>
            </a:solidFill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D8D7F1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D8D7F1"/>
                </a:solidFill>
                <a:latin typeface="Inter"/>
                <a:ea typeface="Inter"/>
                <a:cs typeface="Inter"/>
              </a:rPr>
              <a:t>PITCH ACADÊMICO + STARTUP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83BC9-C09E-4764-90B2-5C903758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PROMOVA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2ACCC-173B-44A8-BBD8-120D69FF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>
                <a:solidFill>
                  <a:srgbClr val="D8D7F1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D8D7F1"/>
                </a:solidFill>
                <a:latin typeface="Inter"/>
                <a:ea typeface="Inter"/>
                <a:cs typeface="Inter"/>
              </a:rPr>
              <a:t>Gestão de equipes orientada por evidências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AABFB-027E-4D8A-B854-E5546798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AVALIAÇÕES SUBJETIVAS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B4788-63E6-4DE4-9A49-4DE8FA88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242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94F"/>
          </a:solidFill>
          <a:ln xmlns:a="http://schemas.openxmlformats.org/drawingml/2006/main" w="9525">
            <a:solidFill>
              <a:srgbClr val="454875"/>
            </a:solidFill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8D7F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D8D7F1"/>
                </a:solidFill>
                <a:latin typeface="Inter"/>
                <a:ea typeface="Inter"/>
                <a:cs typeface="Inter"/>
              </a:rPr>
              <a:t>INFORMAÇÕES ESPALHADAS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D9363-A764-4491-9452-2F684C8C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095500" cy="476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B1FD1"/>
              </a:gs>
              <a:gs pos="56000">
                <a:srgbClr val="7C60F6"/>
              </a:gs>
              <a:gs pos="100000">
                <a:srgbClr val="A896F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E1708-6C97-4A41-835E-D8441F1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Decisões de promoção mais justas, transparentes e baseadas no trabalho real.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EF55D-E2B5-4A53-8826-B2E9DC1A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971550"/>
            <a:ext cx="4476750" cy="506730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3e0d371854133"/>
          <a:stretch xmlns:a="http://schemas.openxmlformats.org/drawingml/2006/main"/>
        </p:blipFill>
        <p:spPr>
          <a:xfrm xmlns:a="http://schemas.openxmlformats.org/drawingml/2006/main">
            <a:off x="7086600" y="1447342"/>
            <a:ext cx="3790950" cy="365851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8580F-C833-42D1-BB44-F2276788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81625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EVIDÊNCIA, NÃO INTUIÇÃO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8955E-D7B0-4E08-91CE-A2416A9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102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7708E"/>
                </a:solidFill>
                <a:latin typeface="Inter"/>
                <a:ea typeface="Inter"/>
                <a:cs typeface="Inter"/>
              </a:rPr>
              <a:t>O trabalho real vira contexto para decisões melhores.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8CD96-670B-4365-A28A-2602C83C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57875"/>
            <a:ext cx="371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9B9FB9"/>
                </a:solidFill>
                <a:latin typeface="Inter"/>
                <a:ea typeface="Inter"/>
                <a:cs typeface="Inter"/>
              </a:defRPr>
            </a:pPr>
            <a:r>
              <a:rPr sz="750">
                <a:solidFill>
                  <a:srgbClr val="9B9FB9"/>
                </a:solidFill>
                <a:latin typeface="Inter"/>
                <a:ea typeface="Inter"/>
                <a:cs typeface="Inter"/>
              </a:rPr>
              <a:t>IA apoia a análise. A decisão final permanece humana.</a:t>
            </a:r>
          </a:p>
        </p:txBody>
      </p:sp>
      <p:sp>
        <p:nvSpPr>
          <p:cNvPr id="18" name="problem-criteria">
            <a:extLst xmlns:a="http://schemas.openxmlformats.org/drawingml/2006/main">
              <a:ext uri="{FF2B5EF4-FFF2-40B4-BE49-F238E27FC236}">
                <a16:creationId xmlns:a16="http://schemas.microsoft.com/office/drawing/2014/main" id="{0411D760-C621-42B7-913C-3D0DCD82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94F"/>
          </a:solidFill>
          <a:ln xmlns:a="http://schemas.openxmlformats.org/drawingml/2006/main" w="9525">
            <a:solidFill>
              <a:srgbClr val="454875"/>
            </a:solidFill>
            <a:prstDash val="solid"/>
          </a:ln>
        </p:spPr>
        <p:txBody>
          <a:bodyPr xmlns:a="http://schemas.openxmlformats.org/drawingml/2006/main" wrap="non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D7F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8D7F1"/>
                </a:solidFill>
                <a:latin typeface="Inter"/>
                <a:ea typeface="Inter"/>
                <a:cs typeface="Inter"/>
              </a:rPr>
              <a:t>CRITÉRIOS POUCO CLAROS</a:t>
            </a:r>
          </a:p>
        </p:txBody>
      </p:sp>
      <p:sp>
        <p:nvSpPr>
          <p:cNvPr id="19" name="problem-bias">
            <a:extLst xmlns:a="http://schemas.openxmlformats.org/drawingml/2006/main">
              <a:ext uri="{FF2B5EF4-FFF2-40B4-BE49-F238E27FC236}">
                <a16:creationId xmlns:a16="http://schemas.microsoft.com/office/drawing/2014/main" id="{0800A058-39C2-407F-B47F-E7292B41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624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1F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RISCO DE VIESES</a:t>
            </a:r>
          </a:p>
        </p:txBody>
      </p:sp>
    </p:spTree>
    <p:extLst>
      <p:ext uri="{BB962C8B-B14F-4D97-AF65-F5344CB8AC3E}">
        <p14:creationId xmlns:p14="http://schemas.microsoft.com/office/powerpoint/2010/main" val="1512787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587E6-0E5D-475F-8457-6E219DE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PROMOVA  /  PITCH TCC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B0305-7875-436C-BFA5-D54976A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AA399-A61B-49ED-94F3-8C0EAFC9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30A83-9037-4A73-AA51-6EDC9FE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TCC / STARTUP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16E44-0206-409A-BC16-F5AFB95B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638925"/>
            <a:ext cx="2152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PROMOVA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6C565-2B5B-422E-AF01-CB1BE03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Como o Promova funciona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73195-8E0C-4739-83C5-1C09F8D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708E"/>
                </a:solidFill>
                <a:latin typeface="Inter"/>
                <a:ea typeface="Inter"/>
                <a:cs typeface="Inter"/>
              </a:rPr>
              <a:t>O trabalho real vira evidência estruturada — e prepara a demonstração do MVP.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DF4B9-D1F4-48A6-9C42-72FC9F3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A6DAD-E515-4D3F-B1BF-8BD5A1C1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57912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flow-label">
            <a:extLst xmlns:a="http://schemas.openxmlformats.org/drawingml/2006/main">
              <a:ext uri="{FF2B5EF4-FFF2-40B4-BE49-F238E27FC236}">
                <a16:creationId xmlns:a16="http://schemas.microsoft.com/office/drawing/2014/main" id="{4AE08EA6-7058-4735-90F2-BF5138F1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FLUXO DE EVIDÊNCIAS</a:t>
            </a:r>
          </a:p>
        </p:txBody>
      </p:sp>
      <p:sp>
        <p:nvSpPr>
          <p:cNvPr id="35" name="flow-spine">
            <a:extLst xmlns:a="http://schemas.openxmlformats.org/drawingml/2006/main">
              <a:ext uri="{FF2B5EF4-FFF2-40B4-BE49-F238E27FC236}">
                <a16:creationId xmlns:a16="http://schemas.microsoft.com/office/drawing/2014/main" id="{4B7D7F20-1E24-4D14-97B5-ADFAA6D4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43200"/>
            <a:ext cx="0" cy="2247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BCFF"/>
            </a:solidFill>
            <a:prstDash val="solid"/>
          </a:ln>
        </p:spPr>
      </p:sp>
      <p:sp>
        <p:nvSpPr>
          <p:cNvPr id="36" name="flow-node-1">
            <a:extLst xmlns:a="http://schemas.openxmlformats.org/drawingml/2006/main">
              <a:ext uri="{FF2B5EF4-FFF2-40B4-BE49-F238E27FC236}">
                <a16:creationId xmlns:a16="http://schemas.microsoft.com/office/drawing/2014/main" id="{DC75C3E8-081E-438F-BD61-FEAFC2C4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D9D4E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37" name="flow-step-1">
            <a:extLst xmlns:a="http://schemas.openxmlformats.org/drawingml/2006/main">
              <a:ext uri="{FF2B5EF4-FFF2-40B4-BE49-F238E27FC236}">
                <a16:creationId xmlns:a16="http://schemas.microsoft.com/office/drawing/2014/main" id="{F364D3B6-C1A2-489A-8D75-F8EBFD37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384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Trabalho real</a:t>
            </a:r>
          </a:p>
        </p:txBody>
      </p:sp>
      <p:sp>
        <p:nvSpPr>
          <p:cNvPr id="38" name="flow-node-2">
            <a:extLst xmlns:a="http://schemas.openxmlformats.org/drawingml/2006/main">
              <a:ext uri="{FF2B5EF4-FFF2-40B4-BE49-F238E27FC236}">
                <a16:creationId xmlns:a16="http://schemas.microsoft.com/office/drawing/2014/main" id="{A9D10289-14E2-40E3-AC51-EC083E53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D9D4E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9" name="flow-step-2">
            <a:extLst xmlns:a="http://schemas.openxmlformats.org/drawingml/2006/main">
              <a:ext uri="{FF2B5EF4-FFF2-40B4-BE49-F238E27FC236}">
                <a16:creationId xmlns:a16="http://schemas.microsoft.com/office/drawing/2014/main" id="{0BCCC0D9-06D6-425C-B0DF-D8632A59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90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Coleta de evidências</a:t>
            </a:r>
          </a:p>
        </p:txBody>
      </p:sp>
      <p:sp>
        <p:nvSpPr>
          <p:cNvPr id="40" name="github-source">
            <a:extLst xmlns:a="http://schemas.openxmlformats.org/drawingml/2006/main">
              <a:ext uri="{FF2B5EF4-FFF2-40B4-BE49-F238E27FC236}">
                <a16:creationId xmlns:a16="http://schemas.microsoft.com/office/drawing/2014/main" id="{15142ECC-21D3-4492-B9FC-AF73662C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09925"/>
            <a:ext cx="876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GITHUB</a:t>
            </a:r>
          </a:p>
        </p:txBody>
      </p:sp>
      <p:sp>
        <p:nvSpPr>
          <p:cNvPr id="41" name="flow-node-3">
            <a:extLst xmlns:a="http://schemas.openxmlformats.org/drawingml/2006/main">
              <a:ext uri="{FF2B5EF4-FFF2-40B4-BE49-F238E27FC236}">
                <a16:creationId xmlns:a16="http://schemas.microsoft.com/office/drawing/2014/main" id="{BC191528-4E38-4409-A194-1D4EBFC3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D9D4E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42" name="flow-step-3">
            <a:extLst xmlns:a="http://schemas.openxmlformats.org/drawingml/2006/main">
              <a:ext uri="{FF2B5EF4-FFF2-40B4-BE49-F238E27FC236}">
                <a16:creationId xmlns:a16="http://schemas.microsoft.com/office/drawing/2014/main" id="{CD2C78AB-3188-4068-8521-8D413B32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43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Análise + IA</a:t>
            </a:r>
          </a:p>
        </p:txBody>
      </p:sp>
      <p:sp>
        <p:nvSpPr>
          <p:cNvPr id="43" name="flow-node-4">
            <a:extLst xmlns:a="http://schemas.openxmlformats.org/drawingml/2006/main">
              <a:ext uri="{FF2B5EF4-FFF2-40B4-BE49-F238E27FC236}">
                <a16:creationId xmlns:a16="http://schemas.microsoft.com/office/drawing/2014/main" id="{7E1DDE4D-3647-4F01-99C3-63CA7184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D9D4E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44" name="flow-step-4">
            <a:extLst xmlns:a="http://schemas.openxmlformats.org/drawingml/2006/main">
              <a:ext uri="{FF2B5EF4-FFF2-40B4-BE49-F238E27FC236}">
                <a16:creationId xmlns:a16="http://schemas.microsoft.com/office/drawing/2014/main" id="{39C5FEC2-450E-489A-BCDA-231F88E4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957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Gestão da equipe</a:t>
            </a:r>
          </a:p>
        </p:txBody>
      </p:sp>
      <p:sp>
        <p:nvSpPr>
          <p:cNvPr id="45" name="flow-node-5">
            <a:extLst xmlns:a="http://schemas.openxmlformats.org/drawingml/2006/main">
              <a:ext uri="{FF2B5EF4-FFF2-40B4-BE49-F238E27FC236}">
                <a16:creationId xmlns:a16="http://schemas.microsoft.com/office/drawing/2014/main" id="{8A8AEA86-1952-40ED-AD39-48E00A4C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1FD1"/>
          </a:solidFill>
          <a:ln xmlns:a="http://schemas.openxmlformats.org/drawingml/2006/main" w="9525">
            <a:solidFill>
              <a:srgbClr val="4B1FD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46" name="flow-step-5">
            <a:extLst xmlns:a="http://schemas.openxmlformats.org/drawingml/2006/main">
              <a:ext uri="{FF2B5EF4-FFF2-40B4-BE49-F238E27FC236}">
                <a16:creationId xmlns:a16="http://schemas.microsoft.com/office/drawing/2014/main" id="{B0A24EA7-A5C7-4C4C-BC00-FF79C545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48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Promoção</a:t>
            </a:r>
          </a:p>
        </p:txBody>
      </p:sp>
      <p:sp>
        <p:nvSpPr>
          <p:cNvPr id="47" name="mvp-label">
            <a:extLst xmlns:a="http://schemas.openxmlformats.org/drawingml/2006/main">
              <a:ext uri="{FF2B5EF4-FFF2-40B4-BE49-F238E27FC236}">
                <a16:creationId xmlns:a16="http://schemas.microsoft.com/office/drawing/2014/main" id="{ECBD66F1-08C1-41AF-AC33-DCF1255C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MVP PRONTO PARA DEMO</a:t>
            </a:r>
          </a:p>
        </p:txBody>
      </p:sp>
      <p:sp>
        <p:nvSpPr>
          <p:cNvPr id="48" name="mvp-heading">
            <a:extLst xmlns:a="http://schemas.openxmlformats.org/drawingml/2006/main">
              <a:ext uri="{FF2B5EF4-FFF2-40B4-BE49-F238E27FC236}">
                <a16:creationId xmlns:a16="http://schemas.microsoft.com/office/drawing/2014/main" id="{FC7F665A-389E-4467-A86C-26B714BF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O ciclo principal já funciona</a:t>
            </a:r>
          </a:p>
        </p:txBody>
      </p:sp>
      <p:sp>
        <p:nvSpPr>
          <p:cNvPr id="49" name="mvp-caption">
            <a:extLst xmlns:a="http://schemas.openxmlformats.org/drawingml/2006/main">
              <a:ext uri="{FF2B5EF4-FFF2-40B4-BE49-F238E27FC236}">
                <a16:creationId xmlns:a16="http://schemas.microsoft.com/office/drawing/2014/main" id="{0434CFAC-5F6B-4E03-BEE6-20C237B2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67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67708E"/>
                </a:solidFill>
                <a:latin typeface="Inter"/>
                <a:ea typeface="Inter"/>
                <a:cs typeface="Inter"/>
              </a:rPr>
              <a:t>Integração inicial: GitHub</a:t>
            </a:r>
          </a:p>
        </p:txBody>
      </p:sp>
      <p:sp>
        <p:nvSpPr>
          <p:cNvPr id="50" name="mvp-dashboard-dot">
            <a:extLst xmlns:a="http://schemas.openxmlformats.org/drawingml/2006/main">
              <a:ext uri="{FF2B5EF4-FFF2-40B4-BE49-F238E27FC236}">
                <a16:creationId xmlns:a16="http://schemas.microsoft.com/office/drawing/2014/main" id="{18876C5A-35A6-4326-A925-1BB78D9D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71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mvp-dashboard-text">
            <a:extLst xmlns:a="http://schemas.openxmlformats.org/drawingml/2006/main">
              <a:ext uri="{FF2B5EF4-FFF2-40B4-BE49-F238E27FC236}">
                <a16:creationId xmlns:a16="http://schemas.microsoft.com/office/drawing/2014/main" id="{A815A9CB-9AA8-4B32-A71A-8F535643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052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Dashboard</a:t>
            </a:r>
          </a:p>
        </p:txBody>
      </p:sp>
      <p:sp>
        <p:nvSpPr>
          <p:cNvPr id="52" name="mvp-evidence-dot">
            <a:extLst xmlns:a="http://schemas.openxmlformats.org/drawingml/2006/main">
              <a:ext uri="{FF2B5EF4-FFF2-40B4-BE49-F238E27FC236}">
                <a16:creationId xmlns:a16="http://schemas.microsoft.com/office/drawing/2014/main" id="{45455532-316A-4DA4-A7FF-E761EE4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90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mvp-evidence-text">
            <a:extLst xmlns:a="http://schemas.openxmlformats.org/drawingml/2006/main">
              <a:ext uri="{FF2B5EF4-FFF2-40B4-BE49-F238E27FC236}">
                <a16:creationId xmlns:a16="http://schemas.microsoft.com/office/drawing/2014/main" id="{805F539E-D1D2-4571-8588-3FB735B9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243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Evidências</a:t>
            </a:r>
          </a:p>
        </p:txBody>
      </p:sp>
      <p:sp>
        <p:nvSpPr>
          <p:cNvPr id="54" name="mvp-skills-dot">
            <a:extLst xmlns:a="http://schemas.openxmlformats.org/drawingml/2006/main">
              <a:ext uri="{FF2B5EF4-FFF2-40B4-BE49-F238E27FC236}">
                <a16:creationId xmlns:a16="http://schemas.microsoft.com/office/drawing/2014/main" id="{30F017A5-58CC-4E89-AF93-8C229064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0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mvp-skills-text">
            <a:extLst xmlns:a="http://schemas.openxmlformats.org/drawingml/2006/main">
              <a:ext uri="{FF2B5EF4-FFF2-40B4-BE49-F238E27FC236}">
                <a16:creationId xmlns:a16="http://schemas.microsoft.com/office/drawing/2014/main" id="{B756BBF5-2133-4C2E-A4CF-3EF88063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Competências</a:t>
            </a:r>
          </a:p>
        </p:txBody>
      </p:sp>
      <p:sp>
        <p:nvSpPr>
          <p:cNvPr id="56" name="mvp-growth-dot">
            <a:extLst xmlns:a="http://schemas.openxmlformats.org/drawingml/2006/main">
              <a:ext uri="{FF2B5EF4-FFF2-40B4-BE49-F238E27FC236}">
                <a16:creationId xmlns:a16="http://schemas.microsoft.com/office/drawing/2014/main" id="{A3D76369-0646-473D-8458-342C9F8C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mvp-growth-text">
            <a:extLst xmlns:a="http://schemas.openxmlformats.org/drawingml/2006/main">
              <a:ext uri="{FF2B5EF4-FFF2-40B4-BE49-F238E27FC236}">
                <a16:creationId xmlns:a16="http://schemas.microsoft.com/office/drawing/2014/main" id="{838A1417-8662-4062-9D48-11ABA040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Evolução</a:t>
            </a:r>
          </a:p>
        </p:txBody>
      </p:sp>
      <p:sp>
        <p:nvSpPr>
          <p:cNvPr id="58" name="mvp-analysis-dot">
            <a:extLst xmlns:a="http://schemas.openxmlformats.org/drawingml/2006/main">
              <a:ext uri="{FF2B5EF4-FFF2-40B4-BE49-F238E27FC236}">
                <a16:creationId xmlns:a16="http://schemas.microsoft.com/office/drawing/2014/main" id="{BFD83828-6268-4D6A-80DF-F0AC071D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90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mvp-analysis-text">
            <a:extLst xmlns:a="http://schemas.openxmlformats.org/drawingml/2006/main">
              <a:ext uri="{FF2B5EF4-FFF2-40B4-BE49-F238E27FC236}">
                <a16:creationId xmlns:a16="http://schemas.microsoft.com/office/drawing/2014/main" id="{1A66E88B-474E-48DB-9FB8-C8F26D77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Análise</a:t>
            </a:r>
          </a:p>
        </p:txBody>
      </p:sp>
      <p:sp>
        <p:nvSpPr>
          <p:cNvPr id="60" name="mvp-human-note">
            <a:extLst xmlns:a="http://schemas.openxmlformats.org/drawingml/2006/main">
              <a:ext uri="{FF2B5EF4-FFF2-40B4-BE49-F238E27FC236}">
                <a16:creationId xmlns:a16="http://schemas.microsoft.com/office/drawing/2014/main" id="{D5015952-CABD-4FA0-A0F1-25964179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815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IA interpreta evidências; a decisão continua humana.</a:t>
            </a:r>
          </a:p>
        </p:txBody>
      </p:sp>
      <p:sp>
        <p:nvSpPr>
          <p:cNvPr id="61" name="mvp-demo">
            <a:extLst xmlns:a="http://schemas.openxmlformats.org/drawingml/2006/main">
              <a:ext uri="{FF2B5EF4-FFF2-40B4-BE49-F238E27FC236}">
                <a16:creationId xmlns:a16="http://schemas.microsoft.com/office/drawing/2014/main" id="{71E8D68B-4D75-4DCA-9A51-B5C34115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19700"/>
            <a:ext cx="2667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4B1F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AGORA: DEMONSTRAÇÃO DO MVP</a:t>
            </a:r>
          </a:p>
        </p:txBody>
      </p:sp>
    </p:spTree>
    <p:extLst>
      <p:ext uri="{BB962C8B-B14F-4D97-AF65-F5344CB8AC3E}">
        <p14:creationId xmlns:p14="http://schemas.microsoft.com/office/powerpoint/2010/main" val="20915104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587E6-0E5D-475F-8457-6E219DE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PROMOVA  /  PITCH TCC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B0305-7875-436C-BFA5-D54976A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AA399-A61B-49ED-94F3-8C0EAFC9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30A83-9037-4A73-AA51-6EDC9FE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TCC / STARTUP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16E44-0206-409A-BC16-F5AFB95B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638925"/>
            <a:ext cx="2152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PROMOVA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6C565-2B5B-422E-AF01-CB1BE03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Para quem criamos valor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73195-8E0C-4739-83C5-1C09F8D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708E"/>
                </a:solidFill>
                <a:latin typeface="Inter"/>
                <a:ea typeface="Inter"/>
                <a:cs typeface="Inter"/>
              </a:rPr>
              <a:t>Começamos por equipes de tecnologia e ampliamos o contexto da decisão.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DF4B9-D1F4-48A6-9C42-72FC9F3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A6DAD-E515-4D3F-B1BF-8BD5A1C1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57912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audience-label">
            <a:extLst xmlns:a="http://schemas.openxmlformats.org/drawingml/2006/main">
              <a:ext uri="{FF2B5EF4-FFF2-40B4-BE49-F238E27FC236}">
                <a16:creationId xmlns:a16="http://schemas.microsoft.com/office/drawing/2014/main" id="{B195CB64-72C9-4956-BF4C-4E4D57C3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PÚBLICO</a:t>
            </a:r>
          </a:p>
        </p:txBody>
      </p:sp>
      <p:sp>
        <p:nvSpPr>
          <p:cNvPr id="35" name="audience-heading">
            <a:extLst xmlns:a="http://schemas.openxmlformats.org/drawingml/2006/main">
              <a:ext uri="{FF2B5EF4-FFF2-40B4-BE49-F238E27FC236}">
                <a16:creationId xmlns:a16="http://schemas.microsoft.com/office/drawing/2014/main" id="{9D0ECD16-473A-4E78-BEC5-C1AB1D00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Equipes de tecnologia</a:t>
            </a:r>
          </a:p>
        </p:txBody>
      </p:sp>
      <p:sp>
        <p:nvSpPr>
          <p:cNvPr id="36" name="audience-kicker-1">
            <a:extLst xmlns:a="http://schemas.openxmlformats.org/drawingml/2006/main">
              <a:ext uri="{FF2B5EF4-FFF2-40B4-BE49-F238E27FC236}">
                <a16:creationId xmlns:a16="http://schemas.microsoft.com/office/drawing/2014/main" id="{C98F5701-8C2E-437D-94CF-867EA17B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PÚBLICO INICIAL</a:t>
            </a:r>
          </a:p>
        </p:txBody>
      </p:sp>
      <p:sp>
        <p:nvSpPr>
          <p:cNvPr id="37" name="audience-value-1">
            <a:extLst xmlns:a="http://schemas.openxmlformats.org/drawingml/2006/main">
              <a:ext uri="{FF2B5EF4-FFF2-40B4-BE49-F238E27FC236}">
                <a16:creationId xmlns:a16="http://schemas.microsoft.com/office/drawing/2014/main" id="{4A31E23C-4180-4308-B1DE-25DD7610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Empresas com equipes de tecnologia</a:t>
            </a:r>
          </a:p>
        </p:txBody>
      </p:sp>
      <p:sp>
        <p:nvSpPr>
          <p:cNvPr id="38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8F8AF7A6-AB26-4F24-B894-F668F69E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39" name="audience-kicker-2">
            <a:extLst xmlns:a="http://schemas.openxmlformats.org/drawingml/2006/main">
              <a:ext uri="{FF2B5EF4-FFF2-40B4-BE49-F238E27FC236}">
                <a16:creationId xmlns:a16="http://schemas.microsoft.com/office/drawing/2014/main" id="{C95FC80A-5267-400C-A9FC-049B5E4F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USUÁRIO PRINCIPAL</a:t>
            </a:r>
          </a:p>
        </p:txBody>
      </p:sp>
      <p:sp>
        <p:nvSpPr>
          <p:cNvPr id="40" name="audience-value-2">
            <a:extLst xmlns:a="http://schemas.openxmlformats.org/drawingml/2006/main">
              <a:ext uri="{FF2B5EF4-FFF2-40B4-BE49-F238E27FC236}">
                <a16:creationId xmlns:a16="http://schemas.microsoft.com/office/drawing/2014/main" id="{EE9CB784-4FFC-4F1E-9EF5-E1CA9E2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Gestores e líderes de equipe</a:t>
            </a:r>
          </a:p>
        </p:txBody>
      </p:sp>
      <p:sp>
        <p:nvSpPr>
          <p:cNvPr id="41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E97B0B1F-D8DB-4C88-8520-1192E2B4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42" name="audience-kicker-3">
            <a:extLst xmlns:a="http://schemas.openxmlformats.org/drawingml/2006/main">
              <a:ext uri="{FF2B5EF4-FFF2-40B4-BE49-F238E27FC236}">
                <a16:creationId xmlns:a16="http://schemas.microsoft.com/office/drawing/2014/main" id="{8695FA81-0428-46B1-B9DF-21B5D4FD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BENEFICIÁRIOS</a:t>
            </a:r>
          </a:p>
        </p:txBody>
      </p:sp>
      <p:sp>
        <p:nvSpPr>
          <p:cNvPr id="43" name="audience-value-3">
            <a:extLst xmlns:a="http://schemas.openxmlformats.org/drawingml/2006/main">
              <a:ext uri="{FF2B5EF4-FFF2-40B4-BE49-F238E27FC236}">
                <a16:creationId xmlns:a16="http://schemas.microsoft.com/office/drawing/2014/main" id="{1C9241EF-E0F2-4E59-A600-11EF777A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Colaboradores e RH</a:t>
            </a:r>
          </a:p>
        </p:txBody>
      </p:sp>
      <p:sp>
        <p:nvSpPr>
          <p:cNvPr id="44" name="value-label">
            <a:extLst xmlns:a="http://schemas.openxmlformats.org/drawingml/2006/main">
              <a:ext uri="{FF2B5EF4-FFF2-40B4-BE49-F238E27FC236}">
                <a16:creationId xmlns:a16="http://schemas.microsoft.com/office/drawing/2014/main" id="{66896E58-C6C2-4B18-83FB-99BCC1CF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PROPOSTA DE VALOR</a:t>
            </a:r>
          </a:p>
        </p:txBody>
      </p:sp>
      <p:sp>
        <p:nvSpPr>
          <p:cNvPr id="45" name="value-statement">
            <a:extLst xmlns:a="http://schemas.openxmlformats.org/drawingml/2006/main">
              <a:ext uri="{FF2B5EF4-FFF2-40B4-BE49-F238E27FC236}">
                <a16:creationId xmlns:a16="http://schemas.microsoft.com/office/drawing/2014/main" id="{680215BD-56D1-4F13-8841-1E9106ED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Transformar o trabalho diário em evidências para uma gestão mais objetiva.</a:t>
            </a:r>
          </a:p>
        </p:txBody>
      </p:sp>
      <p:sp>
        <p:nvSpPr>
          <p:cNvPr id="46" name="value-divider">
            <a:extLst xmlns:a="http://schemas.openxmlformats.org/drawingml/2006/main">
              <a:ext uri="{FF2B5EF4-FFF2-40B4-BE49-F238E27FC236}">
                <a16:creationId xmlns:a16="http://schemas.microsoft.com/office/drawing/2014/main" id="{2A007208-6CA8-44F2-8F98-0E5F89CD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47" name="benefit-1-marker">
            <a:extLst xmlns:a="http://schemas.openxmlformats.org/drawingml/2006/main">
              <a:ext uri="{FF2B5EF4-FFF2-40B4-BE49-F238E27FC236}">
                <a16:creationId xmlns:a16="http://schemas.microsoft.com/office/drawing/2014/main" id="{595B428C-3F88-4338-BE35-AE9CC252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38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48" name="benefit-1-label">
            <a:extLst xmlns:a="http://schemas.openxmlformats.org/drawingml/2006/main">
              <a:ext uri="{FF2B5EF4-FFF2-40B4-BE49-F238E27FC236}">
                <a16:creationId xmlns:a16="http://schemas.microsoft.com/office/drawing/2014/main" id="{581E1817-30C9-456E-B2F7-1EF40F0D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576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Mais contexto para o gestor</a:t>
            </a:r>
          </a:p>
        </p:txBody>
      </p:sp>
      <p:sp>
        <p:nvSpPr>
          <p:cNvPr id="49" name="benefit-2-marker">
            <a:extLst xmlns:a="http://schemas.openxmlformats.org/drawingml/2006/main">
              <a:ext uri="{FF2B5EF4-FFF2-40B4-BE49-F238E27FC236}">
                <a16:creationId xmlns:a16="http://schemas.microsoft.com/office/drawing/2014/main" id="{575509B1-9DC6-4BA5-9E0B-0E33E44B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72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50" name="benefit-2-label">
            <a:extLst xmlns:a="http://schemas.openxmlformats.org/drawingml/2006/main">
              <a:ext uri="{FF2B5EF4-FFF2-40B4-BE49-F238E27FC236}">
                <a16:creationId xmlns:a16="http://schemas.microsoft.com/office/drawing/2014/main" id="{22C91A0C-479B-4C31-86E6-FF24BF0B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Mais transparência para o colaborador</a:t>
            </a:r>
          </a:p>
        </p:txBody>
      </p:sp>
      <p:sp>
        <p:nvSpPr>
          <p:cNvPr id="51" name="benefit-3-marker">
            <a:extLst xmlns:a="http://schemas.openxmlformats.org/drawingml/2006/main">
              <a:ext uri="{FF2B5EF4-FFF2-40B4-BE49-F238E27FC236}">
                <a16:creationId xmlns:a16="http://schemas.microsoft.com/office/drawing/2014/main" id="{ABB75047-B7AB-4D76-9421-F4B062CD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1F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52" name="benefit-3-label">
            <a:extLst xmlns:a="http://schemas.openxmlformats.org/drawingml/2006/main">
              <a:ext uri="{FF2B5EF4-FFF2-40B4-BE49-F238E27FC236}">
                <a16:creationId xmlns:a16="http://schemas.microsoft.com/office/drawing/2014/main" id="{5E49D404-56D9-40B1-A61D-B387CD6D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244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Mais consistência para a empresa</a:t>
            </a:r>
          </a:p>
        </p:txBody>
      </p:sp>
    </p:spTree>
    <p:extLst>
      <p:ext uri="{BB962C8B-B14F-4D97-AF65-F5344CB8AC3E}">
        <p14:creationId xmlns:p14="http://schemas.microsoft.com/office/powerpoint/2010/main" val="2091510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587E6-0E5D-475F-8457-6E219DE1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PROMOVA  /  PITCH TCC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B0305-7875-436C-BFA5-D54976A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AA399-A61B-49ED-94F3-8C0EAFC9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30A83-9037-4A73-AA51-6EDC9FE5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389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TCC / STARTUP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16E44-0206-409A-BC16-F5AFB95B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638925"/>
            <a:ext cx="2152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PROMOVA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6C565-2B5B-422E-AF01-CB1BE03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Como chegamos e sustentamos a adoção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73195-8E0C-4739-83C5-1C09F8D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67708E"/>
                </a:solidFill>
                <a:latin typeface="Inter"/>
                <a:ea typeface="Inter"/>
                <a:cs typeface="Inter"/>
              </a:rPr>
              <a:t>Aquisição B2B com pilotos próximos das equipes e apoio à implantação.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DF4B9-D1F4-48A6-9C42-72FC9F3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A6DAD-E515-4D3F-B1BF-8BD5A1C1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579120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channels-label">
            <a:extLst xmlns:a="http://schemas.openxmlformats.org/drawingml/2006/main">
              <a:ext uri="{FF2B5EF4-FFF2-40B4-BE49-F238E27FC236}">
                <a16:creationId xmlns:a16="http://schemas.microsoft.com/office/drawing/2014/main" id="{13674A38-FD2D-4E78-85EB-67DB6B95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CANAIS</a:t>
            </a:r>
          </a:p>
        </p:txBody>
      </p:sp>
      <p:sp>
        <p:nvSpPr>
          <p:cNvPr id="35" name="channels-heading">
            <a:extLst xmlns:a="http://schemas.openxmlformats.org/drawingml/2006/main">
              <a:ext uri="{FF2B5EF4-FFF2-40B4-BE49-F238E27FC236}">
                <a16:creationId xmlns:a16="http://schemas.microsoft.com/office/drawing/2014/main" id="{3166E295-57DC-4B44-9333-926F83FB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Venda consultiva com demonstração</a:t>
            </a:r>
          </a:p>
        </p:txBody>
      </p:sp>
      <p:sp>
        <p:nvSpPr>
          <p:cNvPr id="36" name="channel-1-marker">
            <a:extLst xmlns:a="http://schemas.openxmlformats.org/drawingml/2006/main">
              <a:ext uri="{FF2B5EF4-FFF2-40B4-BE49-F238E27FC236}">
                <a16:creationId xmlns:a16="http://schemas.microsoft.com/office/drawing/2014/main" id="{1ABBFB2D-10CC-4CB8-A0B0-92C182E6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37" name="channel-1-label">
            <a:extLst xmlns:a="http://schemas.openxmlformats.org/drawingml/2006/main">
              <a:ext uri="{FF2B5EF4-FFF2-40B4-BE49-F238E27FC236}">
                <a16:creationId xmlns:a16="http://schemas.microsoft.com/office/drawing/2014/main" id="{6B9664FE-EFC2-4AD2-B707-3AA3E904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052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Prospecção de empresas</a:t>
            </a:r>
          </a:p>
        </p:txBody>
      </p:sp>
      <p:sp>
        <p:nvSpPr>
          <p:cNvPr id="38" name="channel-2-marker">
            <a:extLst xmlns:a="http://schemas.openxmlformats.org/drawingml/2006/main">
              <a:ext uri="{FF2B5EF4-FFF2-40B4-BE49-F238E27FC236}">
                <a16:creationId xmlns:a16="http://schemas.microsoft.com/office/drawing/2014/main" id="{75A36B33-8A8B-45EF-AFCD-5F9B41E6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9" name="channel-2-label">
            <a:extLst xmlns:a="http://schemas.openxmlformats.org/drawingml/2006/main">
              <a:ext uri="{FF2B5EF4-FFF2-40B4-BE49-F238E27FC236}">
                <a16:creationId xmlns:a16="http://schemas.microsoft.com/office/drawing/2014/main" id="{C18431F1-AB1B-4AB6-95E1-BF970908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814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Pilotos com squads de tecnologia</a:t>
            </a:r>
          </a:p>
        </p:txBody>
      </p:sp>
      <p:sp>
        <p:nvSpPr>
          <p:cNvPr id="40" name="channel-3-marker">
            <a:extLst xmlns:a="http://schemas.openxmlformats.org/drawingml/2006/main">
              <a:ext uri="{FF2B5EF4-FFF2-40B4-BE49-F238E27FC236}">
                <a16:creationId xmlns:a16="http://schemas.microsoft.com/office/drawing/2014/main" id="{42100114-17D3-4A0D-B713-6D18288A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41" name="channel-3-label">
            <a:extLst xmlns:a="http://schemas.openxmlformats.org/drawingml/2006/main">
              <a:ext uri="{FF2B5EF4-FFF2-40B4-BE49-F238E27FC236}">
                <a16:creationId xmlns:a16="http://schemas.microsoft.com/office/drawing/2014/main" id="{F8ABC0CA-FA75-40E0-B96D-C1AB72EA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Demonstrações do produto</a:t>
            </a:r>
          </a:p>
        </p:txBody>
      </p:sp>
      <p:sp>
        <p:nvSpPr>
          <p:cNvPr id="42" name="channel-4-marker">
            <a:extLst xmlns:a="http://schemas.openxmlformats.org/drawingml/2006/main">
              <a:ext uri="{FF2B5EF4-FFF2-40B4-BE49-F238E27FC236}">
                <a16:creationId xmlns:a16="http://schemas.microsoft.com/office/drawing/2014/main" id="{FFFA268E-B1B6-458C-8A9B-AE8F8523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43" name="channel-4-label">
            <a:extLst xmlns:a="http://schemas.openxmlformats.org/drawingml/2006/main">
              <a:ext uri="{FF2B5EF4-FFF2-40B4-BE49-F238E27FC236}">
                <a16:creationId xmlns:a16="http://schemas.microsoft.com/office/drawing/2014/main" id="{DA884657-4518-4354-85C5-F387D1A6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33950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Parcerias com RH / People</a:t>
            </a:r>
          </a:p>
        </p:txBody>
      </p:sp>
      <p:sp>
        <p:nvSpPr>
          <p:cNvPr id="44" name="support-label">
            <a:extLst xmlns:a="http://schemas.openxmlformats.org/drawingml/2006/main">
              <a:ext uri="{FF2B5EF4-FFF2-40B4-BE49-F238E27FC236}">
                <a16:creationId xmlns:a16="http://schemas.microsoft.com/office/drawing/2014/main" id="{9130A894-6C2B-47DD-8B79-101850F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APOIO À ADOÇÃO</a:t>
            </a:r>
          </a:p>
        </p:txBody>
      </p:sp>
      <p:sp>
        <p:nvSpPr>
          <p:cNvPr id="45" name="support-heading">
            <a:extLst xmlns:a="http://schemas.openxmlformats.org/drawingml/2006/main">
              <a:ext uri="{FF2B5EF4-FFF2-40B4-BE49-F238E27FC236}">
                <a16:creationId xmlns:a16="http://schemas.microsoft.com/office/drawing/2014/main" id="{206DEAC4-A6B2-487B-A668-50E5DE63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Responsabilidade compartilhada</a:t>
            </a:r>
          </a:p>
        </p:txBody>
      </p:sp>
      <p:sp>
        <p:nvSpPr>
          <p:cNvPr id="46" name="support-column-divider">
            <a:extLst xmlns:a="http://schemas.openxmlformats.org/drawingml/2006/main">
              <a:ext uri="{FF2B5EF4-FFF2-40B4-BE49-F238E27FC236}">
                <a16:creationId xmlns:a16="http://schemas.microsoft.com/office/drawing/2014/main" id="{B457FF2D-1DCC-46F9-9DEC-D608026D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47" name="support-company-label">
            <a:extLst xmlns:a="http://schemas.openxmlformats.org/drawingml/2006/main">
              <a:ext uri="{FF2B5EF4-FFF2-40B4-BE49-F238E27FC236}">
                <a16:creationId xmlns:a16="http://schemas.microsoft.com/office/drawing/2014/main" id="{50AE98C7-E0BE-4EAD-A9DB-B655587C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90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DENTRO DA EMPRESA</a:t>
            </a:r>
          </a:p>
        </p:txBody>
      </p:sp>
      <p:sp>
        <p:nvSpPr>
          <p:cNvPr id="48" name="company-manager-dot">
            <a:extLst xmlns:a="http://schemas.openxmlformats.org/drawingml/2006/main">
              <a:ext uri="{FF2B5EF4-FFF2-40B4-BE49-F238E27FC236}">
                <a16:creationId xmlns:a16="http://schemas.microsoft.com/office/drawing/2014/main" id="{7A159866-1AD8-4638-BE06-D38CB958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company-manager-text">
            <a:extLst xmlns:a="http://schemas.openxmlformats.org/drawingml/2006/main">
              <a:ext uri="{FF2B5EF4-FFF2-40B4-BE49-F238E27FC236}">
                <a16:creationId xmlns:a16="http://schemas.microsoft.com/office/drawing/2014/main" id="{3A07C1CB-EB29-4DC6-A103-EAE7EE19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Gestores</a:t>
            </a:r>
          </a:p>
        </p:txBody>
      </p:sp>
      <p:sp>
        <p:nvSpPr>
          <p:cNvPr id="50" name="company-hr-dot">
            <a:extLst xmlns:a="http://schemas.openxmlformats.org/drawingml/2006/main">
              <a:ext uri="{FF2B5EF4-FFF2-40B4-BE49-F238E27FC236}">
                <a16:creationId xmlns:a16="http://schemas.microsoft.com/office/drawing/2014/main" id="{9E9FE1B3-04F3-48CA-A0CC-8D886895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52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company-hr-text">
            <a:extLst xmlns:a="http://schemas.openxmlformats.org/drawingml/2006/main">
              <a:ext uri="{FF2B5EF4-FFF2-40B4-BE49-F238E27FC236}">
                <a16:creationId xmlns:a16="http://schemas.microsoft.com/office/drawing/2014/main" id="{0EA7F6BD-079D-431F-8E4E-2818937B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862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RH</a:t>
            </a:r>
          </a:p>
        </p:txBody>
      </p:sp>
      <p:sp>
        <p:nvSpPr>
          <p:cNvPr id="52" name="company-leadership-dot">
            <a:extLst xmlns:a="http://schemas.openxmlformats.org/drawingml/2006/main">
              <a:ext uri="{FF2B5EF4-FFF2-40B4-BE49-F238E27FC236}">
                <a16:creationId xmlns:a16="http://schemas.microsoft.com/office/drawing/2014/main" id="{87BF1F8B-44D2-489D-B670-F6C8564F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company-leadership-text">
            <a:extLst xmlns:a="http://schemas.openxmlformats.org/drawingml/2006/main">
              <a:ext uri="{FF2B5EF4-FFF2-40B4-BE49-F238E27FC236}">
                <a16:creationId xmlns:a16="http://schemas.microsoft.com/office/drawing/2014/main" id="{699F144C-76D3-4884-8D1B-F502B365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434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Liderança</a:t>
            </a:r>
          </a:p>
        </p:txBody>
      </p:sp>
      <p:sp>
        <p:nvSpPr>
          <p:cNvPr id="54" name="support-promova-label">
            <a:extLst xmlns:a="http://schemas.openxmlformats.org/drawingml/2006/main">
              <a:ext uri="{FF2B5EF4-FFF2-40B4-BE49-F238E27FC236}">
                <a16:creationId xmlns:a16="http://schemas.microsoft.com/office/drawing/2014/main" id="{BBCBEAF0-287F-4657-98FB-F616887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DO LADO DO PROMOVA</a:t>
            </a:r>
          </a:p>
        </p:txBody>
      </p:sp>
      <p:sp>
        <p:nvSpPr>
          <p:cNvPr id="55" name="promova-onboarding-dot">
            <a:extLst xmlns:a="http://schemas.openxmlformats.org/drawingml/2006/main">
              <a:ext uri="{FF2B5EF4-FFF2-40B4-BE49-F238E27FC236}">
                <a16:creationId xmlns:a16="http://schemas.microsoft.com/office/drawing/2014/main" id="{70B38B89-1E33-469B-BCD3-D05CD5B1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promova-onboarding-text">
            <a:extLst xmlns:a="http://schemas.openxmlformats.org/drawingml/2006/main">
              <a:ext uri="{FF2B5EF4-FFF2-40B4-BE49-F238E27FC236}">
                <a16:creationId xmlns:a16="http://schemas.microsoft.com/office/drawing/2014/main" id="{433860F5-1417-4D13-9920-A39477A1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290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Onboarding</a:t>
            </a:r>
          </a:p>
        </p:txBody>
      </p:sp>
      <p:sp>
        <p:nvSpPr>
          <p:cNvPr id="57" name="promova-support-dot">
            <a:extLst xmlns:a="http://schemas.openxmlformats.org/drawingml/2006/main">
              <a:ext uri="{FF2B5EF4-FFF2-40B4-BE49-F238E27FC236}">
                <a16:creationId xmlns:a16="http://schemas.microsoft.com/office/drawing/2014/main" id="{DA357D16-55E5-49E3-AFB6-268F1173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52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promova-support-text">
            <a:extLst xmlns:a="http://schemas.openxmlformats.org/drawingml/2006/main">
              <a:ext uri="{FF2B5EF4-FFF2-40B4-BE49-F238E27FC236}">
                <a16:creationId xmlns:a16="http://schemas.microsoft.com/office/drawing/2014/main" id="{E742E815-A17D-4C2A-89A2-CC936C4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862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Suporte</a:t>
            </a:r>
          </a:p>
        </p:txBody>
      </p:sp>
      <p:sp>
        <p:nvSpPr>
          <p:cNvPr id="59" name="promova-docs-dot">
            <a:extLst xmlns:a="http://schemas.openxmlformats.org/drawingml/2006/main">
              <a:ext uri="{FF2B5EF4-FFF2-40B4-BE49-F238E27FC236}">
                <a16:creationId xmlns:a16="http://schemas.microsoft.com/office/drawing/2014/main" id="{3E337C63-AF19-4ABC-9711-CAC8C7C6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10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promova-docs-text">
            <a:extLst xmlns:a="http://schemas.openxmlformats.org/drawingml/2006/main">
              <a:ext uri="{FF2B5EF4-FFF2-40B4-BE49-F238E27FC236}">
                <a16:creationId xmlns:a16="http://schemas.microsoft.com/office/drawing/2014/main" id="{D01C41B9-9634-4D95-9D34-9BC8943C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434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Documentação</a:t>
            </a:r>
          </a:p>
        </p:txBody>
      </p:sp>
    </p:spTree>
    <p:extLst>
      <p:ext uri="{BB962C8B-B14F-4D97-AF65-F5344CB8AC3E}">
        <p14:creationId xmlns:p14="http://schemas.microsoft.com/office/powerpoint/2010/main" val="209151048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4B1FD1"/>
            </a:gs>
            <a:gs pos="56000">
              <a:srgbClr val="7C60F6"/>
            </a:gs>
            <a:gs pos="100000">
              <a:srgbClr val="A89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FC8CDA-AF33-4D26-81DE-AF937133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2095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7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C4F6C-F33B-422B-8927-2502D91A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1EEFF"/>
                </a:solidFill>
                <a:latin typeface="Inter"/>
                <a:ea typeface="Inter"/>
                <a:cs typeface="Inter"/>
              </a:rPr>
              <a:t>PROMOVA  /  GTM + NEGÓCIO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01AE3-F0D4-4A49-8688-52D4F23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Como medimos, expandimos e monetizamos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76B2-55AF-48C2-AC28-10493057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F1EEFF"/>
                </a:solidFill>
                <a:latin typeface="Inter"/>
                <a:ea typeface="Inter"/>
                <a:cs typeface="Inter"/>
              </a:rPr>
              <a:t>Começamos em tecnologia, com modelo B2B SaaS por usuário.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B4CF4-C590-45C7-AE10-FBC2D55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429000" cy="2762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B6A80-078B-4DD4-B343-D3914A8B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48C9F-04A2-48CD-964E-A5A533BC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Sucesso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8C6C8-01A5-462B-9B24-07F754A5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3009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67708E"/>
                </a:solidFill>
                <a:latin typeface="Inter"/>
                <a:ea typeface="Inter"/>
                <a:cs typeface="Inter"/>
              </a:rPr>
              <a:t>• Adesão dos gestores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67708E"/>
                </a:solidFill>
                <a:latin typeface="Inter"/>
                <a:ea typeface="Inter"/>
                <a:cs typeface="Inter"/>
              </a:rPr>
              <a:t>• Uso recorrente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67708E"/>
                </a:solidFill>
                <a:latin typeface="Inter"/>
                <a:ea typeface="Inter"/>
                <a:cs typeface="Inter"/>
              </a:rPr>
              <a:t>• Evidências analisadas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67708E"/>
                </a:solidFill>
                <a:latin typeface="Inter"/>
                <a:ea typeface="Inter"/>
                <a:cs typeface="Inter"/>
              </a:rPr>
              <a:t>• Avaliações realizadas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67708E"/>
                </a:solidFill>
                <a:latin typeface="Inter"/>
                <a:ea typeface="Inter"/>
                <a:cs typeface="Inter"/>
              </a:rPr>
              <a:t>• Evolução dos colaboradores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67708E"/>
                </a:solidFill>
                <a:latin typeface="Inter"/>
                <a:ea typeface="Inter"/>
                <a:cs typeface="Inter"/>
              </a:rPr>
              <a:t>• Satisfação dos usuários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7DA3D-E935-4B83-BF7D-ADE2ED92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5C837-5C8B-42B5-8AE9-2767A2DA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3009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13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INDICADORES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5A1E3-AB7D-4C13-8329-1A989DD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429000" cy="2762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0402A-6E86-412F-A44E-72945878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21D65-D8C8-4A68-93AB-17FDC80F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479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Expansão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D266D-9614-4D1A-BFCD-7C37F1B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95650"/>
            <a:ext cx="3009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GitHub  →  Jira  →  Slack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0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67708E"/>
                </a:solidFill>
                <a:latin typeface="Inter"/>
                <a:ea typeface="Inter"/>
                <a:cs typeface="Inter"/>
              </a:rP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67708E"/>
                </a:solidFill>
                <a:latin typeface="Inter"/>
                <a:ea typeface="Inter"/>
                <a:cs typeface="Inter"/>
              </a:rPr>
              <a:t>Depois: outras equipes e áreas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E2995-B71D-400F-A308-910BDA6A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1BD97-506E-4DB8-A520-CF1FC20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3009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13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TECNOLOGIA COMO PONTO DE PARTIDA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55FD3-750A-4A6A-891E-E4F036C1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429000" cy="2762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5FB91-E496-4411-9511-EF254FE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71725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91DD7-4586-457A-9AEB-F0795D43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479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744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11744"/>
                </a:solidFill>
                <a:latin typeface="Inter"/>
                <a:ea typeface="Inter"/>
                <a:cs typeface="Inter"/>
              </a:rPr>
              <a:t>Modelo de negócio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EDEFC-7A2A-49F6-A4AE-37E8E323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3009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67708E"/>
                </a:solidFill>
                <a:latin typeface="Inter"/>
                <a:ea typeface="Inter"/>
                <a:cs typeface="Inter"/>
              </a:rPr>
              <a:t>B2B SaaS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67708E"/>
                </a:solidFill>
                <a:latin typeface="Inter"/>
                <a:ea typeface="Inter"/>
                <a:cs typeface="Inter"/>
              </a:rPr>
              <a:t>Base — R$ 29,99 / usuário / mês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67708E"/>
                </a:solidFill>
                <a:latin typeface="Inter"/>
                <a:ea typeface="Inter"/>
                <a:cs typeface="Inter"/>
              </a:rPr>
              <a:t>Premium — R$ 45,36 / usuário / mês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67708E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67708E"/>
                </a:solidFill>
                <a:latin typeface="Inter"/>
                <a:ea typeface="Inter"/>
                <a:cs typeface="Inter"/>
              </a:rPr>
              <a:t>Cenário inicial: 150 usuários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08528-0D92-4DDB-BBBB-ACF102A7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9105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0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8AC5C-3BD7-47D4-A626-85B5F3F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3009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B1FD1"/>
                </a:solidFill>
                <a:latin typeface="Inter"/>
                <a:ea typeface="Inter"/>
                <a:cs typeface="Inter"/>
              </a:defRPr>
            </a:pPr>
            <a:r>
              <a:rPr sz="713" b="1">
                <a:solidFill>
                  <a:srgbClr val="4B1FD1"/>
                </a:solidFill>
                <a:latin typeface="Inter"/>
                <a:ea typeface="Inter"/>
                <a:cs typeface="Inter"/>
              </a:rPr>
              <a:t>3 EMPRESAS × 50 PESSOAS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7A8854-14EE-4377-8612-A79F1B9F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58C6BB-8855-4973-B7C6-8735B22D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1EEFF"/>
                </a:solidFill>
                <a:latin typeface="Inter"/>
                <a:ea typeface="Inter"/>
                <a:cs typeface="Inter"/>
              </a:rPr>
              <a:t>Decisão humana apoiada por evidências.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5825FD-F9C2-4160-A574-494FF10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TCC / STARTUP /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A4184-C61E-4EFE-871E-0C371DA3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PROMOVA</a:t>
            </a:r>
          </a:p>
        </p:txBody>
      </p:sp>
    </p:spTree>
    <p:extLst>
      <p:ext uri="{BB962C8B-B14F-4D97-AF65-F5344CB8AC3E}">
        <p14:creationId xmlns:p14="http://schemas.microsoft.com/office/powerpoint/2010/main" val="1509824515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4B1FD1"/>
            </a:gs>
            <a:gs pos="56000">
              <a:srgbClr val="7C60F6"/>
            </a:gs>
            <a:gs pos="100000">
              <a:srgbClr val="A89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FC8CDA-AF33-4D26-81DE-AF937133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2095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7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C4F6C-F33B-422B-8927-2502D91A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1EEFF"/>
                </a:solidFill>
                <a:latin typeface="Inter"/>
                <a:ea typeface="Inter"/>
                <a:cs typeface="Inter"/>
              </a:rPr>
              <a:t>PROMOVA  /  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01AE3-F0D4-4A49-8688-52D4F23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Promoção não deveria depender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de quem é mais lembrado.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76B2-55AF-48C2-AC28-10493057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1EEFF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F1EEFF"/>
                </a:solidFill>
                <a:latin typeface="Inter"/>
                <a:ea typeface="Inter"/>
                <a:cs typeface="Inter"/>
              </a:rPr>
              <a:t>Deveria ser apoiada por evidências.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5825FD-F9C2-4160-A574-494FF10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PROGRESS YOU CAN PROVE.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9A4184-C61E-4EFE-871E-0C371DA3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PROMOVA</a:t>
            </a:r>
          </a:p>
        </p:txBody>
      </p:sp>
    </p:spTree>
    <p:extLst>
      <p:ext uri="{BB962C8B-B14F-4D97-AF65-F5344CB8AC3E}">
        <p14:creationId xmlns:p14="http://schemas.microsoft.com/office/powerpoint/2010/main" val="1509824515"/>
      </p:ext>
    </p:extLst>
  </p:cSld>
</p:sld>
</file>

<file path=ppt/theme/theme1.xml><?xml version="1.0" encoding="utf-8"?>
<a:theme xmlns:a="http://schemas.openxmlformats.org/drawingml/2006/main" name="ChatGPT">
  <a:themeElements>
    <a:clrScheme name="Promova Progress">
      <a:dk1>
        <a:srgbClr val="0D102B"/>
      </a:dk1>
      <a:lt1>
        <a:srgbClr val="FFFFFF"/>
      </a:lt1>
      <a:dk2>
        <a:srgbClr val="111744"/>
      </a:dk2>
      <a:lt2>
        <a:srgbClr val="DED5FF"/>
      </a:lt2>
      <a:accent1>
        <a:srgbClr val="7C60F6"/>
      </a:accent1>
      <a:accent2>
        <a:srgbClr val="4B1FD1"/>
      </a:accent2>
      <a:accent3>
        <a:srgbClr val="A896FF"/>
      </a:accent3>
      <a:accent4>
        <a:srgbClr val="1F9D77"/>
      </a:accent4>
      <a:accent5>
        <a:srgbClr val="CF8A2C"/>
      </a:accent5>
      <a:accent6>
        <a:srgbClr val="C85263"/>
      </a:accent6>
      <a:hlink>
        <a:srgbClr val="4B1FD1"/>
      </a:hlink>
      <a:folHlink>
        <a:srgbClr val="5B34D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romova Prog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2026-09-03T02:41:19.3340000Z</dcterms:created>
  <dcterms:modified xsi:type="dcterms:W3CDTF">2026-09-03T02:41:19.3340000Z</dcterms:modified>
</coreProperties>
</file>