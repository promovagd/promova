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b941667db84cda" /><Relationship Type="http://schemas.openxmlformats.org/officeDocument/2006/relationships/extended-properties" Target="/docProps/app.xml" Id="Re6de59697a754f8c" /><Relationship Type="http://schemas.openxmlformats.org/officeDocument/2006/relationships/officeDocument" Target="/ppt/presentation.xml" Id="R2dcaaaf4804446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a3b21071704871"/>
  </p:sldMasterIdLst>
  <p:notesMasterIdLst>
    <p:notesMasterId xmlns:r="http://schemas.openxmlformats.org/officeDocument/2006/relationships" r:id="R5ab8bc53cc05493b"/>
  </p:notesMasterIdLst>
  <p:sldIdLst>
    <p:sldId xmlns:r="http://schemas.openxmlformats.org/officeDocument/2006/relationships" id="256" r:id="R529a634a365244cf"/>
    <p:sldId xmlns:r="http://schemas.openxmlformats.org/officeDocument/2006/relationships" id="257" r:id="Rffe7cfec39af41f8"/>
    <p:sldId xmlns:r="http://schemas.openxmlformats.org/officeDocument/2006/relationships" id="258" r:id="R69b27e5f786949d6"/>
    <p:sldId xmlns:r="http://schemas.openxmlformats.org/officeDocument/2006/relationships" id="259" r:id="R3bdfaf95f7b54fea"/>
    <p:sldId xmlns:r="http://schemas.openxmlformats.org/officeDocument/2006/relationships" id="260" r:id="Ra411ff31ef2e4bba"/>
    <p:sldId xmlns:r="http://schemas.openxmlformats.org/officeDocument/2006/relationships" id="261" r:id="Ra1f840baf42245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74f86dd58e485c" /><Relationship Type="http://schemas.openxmlformats.org/officeDocument/2006/relationships/slideMaster" Target="/ppt/slideMasters/slideMaster1.xml" Id="R8da3b21071704871" /><Relationship Type="http://schemas.openxmlformats.org/officeDocument/2006/relationships/notesMaster" Target="/ppt/notesMasters/notesMaster1.xml" Id="R5ab8bc53cc05493b" /><Relationship Type="http://schemas.openxmlformats.org/officeDocument/2006/relationships/presProps" Target="/ppt/presProps.xml" Id="Rfc783945d3d94dbf" /><Relationship Type="http://schemas.openxmlformats.org/officeDocument/2006/relationships/tableStyles" Target="/ppt/tableStyles.xml" Id="Raf43dcd314a94c64" /><Relationship Type="http://schemas.openxmlformats.org/officeDocument/2006/relationships/slide" Target="/ppt/slides/slide1.xml" Id="R529a634a365244cf" /><Relationship Type="http://schemas.openxmlformats.org/officeDocument/2006/relationships/slide" Target="/ppt/slides/slide2.xml" Id="Rffe7cfec39af41f8" /><Relationship Type="http://schemas.openxmlformats.org/officeDocument/2006/relationships/slide" Target="/ppt/slides/slide3.xml" Id="R69b27e5f786949d6" /><Relationship Type="http://schemas.openxmlformats.org/officeDocument/2006/relationships/slide" Target="/ppt/slides/slide4.xml" Id="R3bdfaf95f7b54fea" /><Relationship Type="http://schemas.openxmlformats.org/officeDocument/2006/relationships/slide" Target="/ppt/slides/slide5.xml" Id="Ra411ff31ef2e4bba" /><Relationship Type="http://schemas.openxmlformats.org/officeDocument/2006/relationships/slide" Target="/ppt/slides/slide6.xml" Id="Ra1f840baf42245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ea0001af434f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romova Progress">
      <a:dk1>
        <a:srgbClr val="0D102B"/>
      </a:dk1>
      <a:lt1>
        <a:srgbClr val="FFFFFF"/>
      </a:lt1>
      <a:dk2>
        <a:srgbClr val="111744"/>
      </a:dk2>
      <a:lt2>
        <a:srgbClr val="DED5FF"/>
      </a:lt2>
      <a:accent1>
        <a:srgbClr val="7C60F6"/>
      </a:accent1>
      <a:accent2>
        <a:srgbClr val="4B1FD1"/>
      </a:accent2>
      <a:accent3>
        <a:srgbClr val="A896FF"/>
      </a:accent3>
      <a:accent4>
        <a:srgbClr val="1F9D77"/>
      </a:accent4>
      <a:accent5>
        <a:srgbClr val="CF8A2C"/>
      </a:accent5>
      <a:accent6>
        <a:srgbClr val="C85263"/>
      </a:accent6>
      <a:hlink>
        <a:srgbClr val="4B1FD1"/>
      </a:hlink>
      <a:folHlink>
        <a:srgbClr val="5B34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mova Progr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3a005e74df4a74" /><Relationship Type="http://schemas.openxmlformats.org/officeDocument/2006/relationships/notesMaster" Target="/ppt/notesMasters/notesMaster1.xml" Id="Rdb594141f1244c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3e7e7cba8f4d55" /><Relationship Type="http://schemas.openxmlformats.org/officeDocument/2006/relationships/notesMaster" Target="/ppt/notesMasters/notesMaster1.xml" Id="Rf3dbf921e09b41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b9b7e6d4864016" /><Relationship Type="http://schemas.openxmlformats.org/officeDocument/2006/relationships/notesMaster" Target="/ppt/notesMasters/notesMaster1.xml" Id="R0fc952023eec41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4847bbd4fa4859" /><Relationship Type="http://schemas.openxmlformats.org/officeDocument/2006/relationships/notesMaster" Target="/ppt/notesMasters/notesMaster1.xml" Id="Rc2ac7129e64b43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29c389b15242fd" /><Relationship Type="http://schemas.openxmlformats.org/officeDocument/2006/relationships/notesMaster" Target="/ppt/notesMasters/notesMaster1.xml" Id="R9ac4097fb9c540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20777051cf4f24" /><Relationship Type="http://schemas.openxmlformats.org/officeDocument/2006/relationships/notesMaster" Target="/ppt/notesMasters/notesMaster1.xml" Id="Rbcc90871c0e44c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supplied logo artwork as the source of truth until transparent SVG and PNG exports are approved.</a:t>
            </a:r>
          </a:p>
          <a:p xmlns:a="http://schemas.openxmlformats.org/drawingml/2006/main">
            <a:r>
              <a:t>The identity thesis is Progress you can prove: visible direction, measurable movement, credible evidence.</a:t>
            </a:r>
          </a:p>
          <a:p xmlns:a="http://schemas.openxmlformats.org/drawingml/2006/main">
            <a:r>
              <a:t>Keep the cover quiet. The gradient is a signal, not a wallpaper pattern.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typeface: Inter, with 700 for display and headings, 500 for labels and 400 for body copy.</a:t>
            </a:r>
          </a:p>
          <a:p xmlns:a="http://schemas.openxmlformats.org/drawingml/2006/main">
            <a:r>
              <a:t>Use rounded corners between 12 and 24px, an 8px spacing base unit and quiet 1px borders in #E5E0F5.</a:t>
            </a:r>
          </a:p>
          <a:p xmlns:a="http://schemas.openxmlformats.org/drawingml/2006/main">
            <a:r>
              <a:t>Every component should have a clear action or a clear proof point. Avoid decorative purple panels with no job to 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typeface: Inter, with 700 for display and headings, 500 for labels and 400 for body copy.</a:t>
            </a:r>
          </a:p>
          <a:p xmlns:a="http://schemas.openxmlformats.org/drawingml/2006/main">
            <a:r>
              <a:t>Use rounded corners between 12 and 24px, an 8px spacing base unit and quiet 1px borders in #E5E0F5.</a:t>
            </a:r>
          </a:p>
          <a:p xmlns:a="http://schemas.openxmlformats.org/drawingml/2006/main">
            <a:r>
              <a:t>Every component should have a clear action or a clear proof point. Avoid decorative purple panels with no job to 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typeface: Inter, with 700 for display and headings, 500 for labels and 400 for body copy.</a:t>
            </a:r>
          </a:p>
          <a:p xmlns:a="http://schemas.openxmlformats.org/drawingml/2006/main">
            <a:r>
              <a:t>Use rounded corners between 12 and 24px, an 8px spacing base unit and quiet 1px borders in #E5E0F5.</a:t>
            </a:r>
          </a:p>
          <a:p xmlns:a="http://schemas.openxmlformats.org/drawingml/2006/main">
            <a:r>
              <a:t>Every component should have a clear action or a clear proof point. Avoid decorative purple panels with no job to 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recommended implementation sequence for the website and pitch deck.</a:t>
            </a:r>
          </a:p>
          <a:p xmlns:a="http://schemas.openxmlformats.org/drawingml/2006/main">
            <a:r>
              <a:t>The first PR should focus on the exact logo and token foundation; broader visual identity changes can follow as separate, reviewable slices.</a:t>
            </a:r>
          </a:p>
          <a:p xmlns:a="http://schemas.openxmlformats.org/drawingml/2006/main">
            <a:r>
              <a:t>Acceptance check: logo alignment on mobile, clear contrast, correct asset proportions, consistent token usage and no accidental gradient overuse.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recommended implementation sequence for the website and pitch deck.</a:t>
            </a:r>
          </a:p>
          <a:p xmlns:a="http://schemas.openxmlformats.org/drawingml/2006/main">
            <a:r>
              <a:t>The first PR should focus on the exact logo and token foundation; broader visual identity changes can follow as separate, reviewable slices.</a:t>
            </a:r>
          </a:p>
          <a:p xmlns:a="http://schemas.openxmlformats.org/drawingml/2006/main">
            <a:r>
              <a:t>Acceptance check: logo alignment on mobile, clear contrast, correct asset proportions, consistent token usage and no accidental gradient overuse.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68bfb68444f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3410c4bf034486" /><Relationship Type="http://schemas.openxmlformats.org/officeDocument/2006/relationships/slideLayout" Target="/ppt/slideLayouts/slideLayout1.xml" Id="R547b7956416d48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7b7956416d48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romova Progress">
      <a:dk1>
        <a:srgbClr val="0D102B"/>
      </a:dk1>
      <a:lt1>
        <a:srgbClr val="FFFFFF"/>
      </a:lt1>
      <a:dk2>
        <a:srgbClr val="111744"/>
      </a:dk2>
      <a:lt2>
        <a:srgbClr val="DED5FF"/>
      </a:lt2>
      <a:accent1>
        <a:srgbClr val="7C60F6"/>
      </a:accent1>
      <a:accent2>
        <a:srgbClr val="4B1FD1"/>
      </a:accent2>
      <a:accent3>
        <a:srgbClr val="A896FF"/>
      </a:accent3>
      <a:accent4>
        <a:srgbClr val="1F9D77"/>
      </a:accent4>
      <a:accent5>
        <a:srgbClr val="CF8A2C"/>
      </a:accent5>
      <a:accent6>
        <a:srgbClr val="C85263"/>
      </a:accent6>
      <a:hlink>
        <a:srgbClr val="4B1FD1"/>
      </a:hlink>
      <a:folHlink>
        <a:srgbClr val="5B34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mova Progr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9fdf5ef934721" /><Relationship Type="http://schemas.openxmlformats.org/officeDocument/2006/relationships/image" Target="/ppt/media/image.png" Id="R02272e1d2d234ba4" /><Relationship Type="http://schemas.openxmlformats.org/officeDocument/2006/relationships/notesSlide" Target="/ppt/notesSlides/notesSlide1.xml" Id="R2c358f36406843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6fde92eac4734" /><Relationship Type="http://schemas.openxmlformats.org/officeDocument/2006/relationships/notesSlide" Target="/ppt/notesSlides/notesSlide2.xml" Id="Ra15c24e2361248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6baa5eee746d7" /><Relationship Type="http://schemas.openxmlformats.org/officeDocument/2006/relationships/notesSlide" Target="/ppt/notesSlides/notesSlide3.xml" Id="R03ed7eb6dd364e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1988314d44ced" /><Relationship Type="http://schemas.openxmlformats.org/officeDocument/2006/relationships/notesSlide" Target="/ppt/notesSlides/notesSlide4.xml" Id="R80f2bd62d31548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eda6eb5694474" /><Relationship Type="http://schemas.openxmlformats.org/officeDocument/2006/relationships/notesSlide" Target="/ppt/notesSlides/notesSlide5.xml" Id="R24642e293c0a43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b6baba17846a6" /><Relationship Type="http://schemas.openxmlformats.org/officeDocument/2006/relationships/notesSlide" Target="/ppt/notesSlides/notesSlide6.xml" Id="R47e3337e682341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7CCA9-A567-4DBE-9944-83E44A24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B1FD1"/>
              </a:gs>
              <a:gs pos="100000">
                <a:srgbClr val="0D102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60CD7-0233-41CF-AB28-F828F550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953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1C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0DE96-FD1D-4C8A-B1DE-A643F9D6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D8D7F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D8D7F1"/>
                </a:solidFill>
                <a:latin typeface="Inter"/>
                <a:ea typeface="Inter"/>
                <a:cs typeface="Inter"/>
              </a:rPr>
              <a:t>PROMOVA  /  VISUAL IDENTITY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C58A7-3A50-4A6D-A3E8-49174C7A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52450"/>
            <a:ext cx="1847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94F"/>
          </a:solidFill>
          <a:ln xmlns:a="http://schemas.openxmlformats.org/drawingml/2006/main" w="9525">
            <a:solidFill>
              <a:srgbClr val="454875"/>
            </a:solidFill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8D7F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D8D7F1"/>
                </a:solidFill>
                <a:latin typeface="Inter"/>
                <a:ea typeface="Inter"/>
                <a:cs typeface="Inter"/>
              </a:rPr>
              <a:t>FOUNDATION /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83BC9-C09E-4764-90B2-5C903758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429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Progress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you can prove.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2ACCC-173B-44A8-BBD8-120D69FF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D8D7F1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D8D7F1"/>
                </a:solidFill>
                <a:latin typeface="Inter"/>
                <a:ea typeface="Inter"/>
                <a:cs typeface="Inter"/>
              </a:rPr>
              <a:t>A visual system for a product that turns career momentum into visible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AABFB-027E-4D8A-B854-E5546798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B4788-63E6-4DE4-9A49-4DE8FA88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71975"/>
            <a:ext cx="762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94F"/>
          </a:solidFill>
          <a:ln xmlns:a="http://schemas.openxmlformats.org/drawingml/2006/main" w="9525">
            <a:solidFill>
              <a:srgbClr val="454875"/>
            </a:solidFill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8D7F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D8D7F1"/>
                </a:solidFill>
                <a:latin typeface="Inter"/>
                <a:ea typeface="Inter"/>
                <a:cs typeface="Inter"/>
              </a:rPr>
              <a:t>PITCH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D9363-A764-4491-9452-2F684C8C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095500" cy="476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B1FD1"/>
              </a:gs>
              <a:gs pos="56000">
                <a:srgbClr val="7C60F6"/>
              </a:gs>
              <a:gs pos="100000">
                <a:srgbClr val="A896F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E1708-6C97-4A41-835E-D8441F12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AAA9C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AAA9CD"/>
                </a:solidFill>
                <a:latin typeface="Inter"/>
                <a:ea typeface="Inter"/>
                <a:cs typeface="Inter"/>
              </a:rPr>
              <a:t>A direction-first identity: optimistic, precise, human.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EF55D-E2B5-4A53-8826-B2E9DC1A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971550"/>
            <a:ext cx="4476750" cy="506730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72e1d2d234ba4"/>
          <a:stretch xmlns:a="http://schemas.openxmlformats.org/drawingml/2006/main"/>
        </p:blipFill>
        <p:spPr>
          <a:xfrm xmlns:a="http://schemas.openxmlformats.org/drawingml/2006/main">
            <a:off x="7086600" y="1447342"/>
            <a:ext cx="3790950" cy="365851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8580F-C833-42D1-BB44-F2276788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4830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PRIMARY LOCKUP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8955E-D7B0-4E08-91CE-A2416A9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673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7708E"/>
                </a:solidFill>
                <a:latin typeface="Inter"/>
                <a:ea typeface="Inter"/>
                <a:cs typeface="Inter"/>
              </a:rPr>
              <a:t>For light surfaces and first-impression moments.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8CD96-670B-4365-A28A-2602C83C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0"/>
            <a:ext cx="3714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9B9FB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B9FB9"/>
                </a:solidFill>
                <a:latin typeface="Inter"/>
                <a:ea typeface="Inter"/>
                <a:cs typeface="Inter"/>
              </a:rPr>
              <a:t>supplied reference / keep proportions intact</a:t>
            </a:r>
          </a:p>
        </p:txBody>
      </p:sp>
    </p:spTree>
    <p:extLst>
      <p:ext uri="{BB962C8B-B14F-4D97-AF65-F5344CB8AC3E}">
        <p14:creationId xmlns:p14="http://schemas.microsoft.com/office/powerpoint/2010/main" val="1512787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587E6-0E5D-475F-8457-6E219DE1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PROMOVA  /  VISUAL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B0305-7875-436C-BFA5-D54976A5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AA399-A61B-49ED-94F3-8C0EAFC9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30A83-9037-4A73-AA51-6EDC9FE5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389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FOUNDATION /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16E44-0206-409A-BC16-F5AFB95B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638925"/>
            <a:ext cx="2152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PROGRESS YOU CAN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6C565-2B5B-422E-AF01-CB1BE032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6211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Typography and components should feel calm, then decisive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73195-8E0C-4739-83C5-1C09F8D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708E"/>
                </a:solidFill>
                <a:latin typeface="Inter"/>
                <a:ea typeface="Inter"/>
                <a:cs typeface="Inter"/>
              </a:rPr>
              <a:t>Inter gives the product a modern, readable voice; rounded surfaces carry the logo's friendliness.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DF4B9-D1F4-48A6-9C42-72FC9F36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8BBB5-0F3B-4601-BAB0-4C3F86C1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TYPE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1A740-CC6B-4A17-8D10-899F2BF6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Inter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30F28-5819-4498-BF1F-A06BC9AF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Make progress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CDA1B-AFE1-4C66-A86D-49742712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708E"/>
                </a:solidFill>
                <a:latin typeface="Inter"/>
                <a:ea typeface="Inter"/>
                <a:cs typeface="Inter"/>
              </a:rPr>
              <a:t>Use sentence case, short lines and clear hierarchy. Let the metrics be loud; let the supporting copy stay quiet.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9D32D-B851-4E70-A48A-3236B294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9D524-8729-4C9E-B107-DC817D36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DISPLAY  44 / 52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20F1B-A4E0-4A26-8215-B99C0F22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HEADING  32 / 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BD936-BC3B-4EBC-AD9A-5BF83585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UI  16 / 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41D9B-144C-4771-BB7A-52A587F6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911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CAPTION  12 / 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A6DAD-E515-4D3F-B1BF-8BD5A1C1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579120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A7EB7-7330-441D-B835-C9067B2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WEBSITE COMPONENTS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F6A70-10E2-403C-87AA-A8C6C64D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Progress is the interface language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9FEF6-CA96-444E-A856-ED94F814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98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1F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Start tracking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8BC413-319E-4F0F-98C3-D75E35A5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521970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4BDD4-5C2E-4E5E-80C5-E5BDE29C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4805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WEEKLY MOMENTUM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143ED-EADD-4A14-9BEB-1771F6D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052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8958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+18%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20E83-94B9-4369-829E-6D022942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BDD"/>
            </a:solidFill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9D77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F9D77"/>
                </a:solidFill>
                <a:latin typeface="Inter"/>
                <a:ea typeface="Inter"/>
                <a:cs typeface="Inter"/>
              </a:rPr>
              <a:t>ON TRACK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6135F-88CD-4E25-96FC-74FDA01D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00525"/>
            <a:ext cx="45339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7DE7F8-AAAD-44EF-B08D-34A7FE50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00525"/>
            <a:ext cx="3257550" cy="857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B1FD1"/>
              </a:gs>
              <a:gs pos="56000">
                <a:srgbClr val="7C60F6"/>
              </a:gs>
              <a:gs pos="100000">
                <a:srgbClr val="A896F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55B7D-F9A9-421A-9B53-5C4AD111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9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7708E"/>
                </a:solidFill>
                <a:latin typeface="Inter"/>
                <a:ea typeface="Inter"/>
                <a:cs typeface="Inter"/>
              </a:rPr>
              <a:t>A single focused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7150E1-78D9-4C7F-B2DC-52D24699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12 px radius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0836A-8255-4633-92B4-94616B3F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3392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8 px grid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8082E0-0EB6-46D1-82EA-4A13AC9D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3392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1 px border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7AAD3F-2BA7-4865-99C7-DEC133F3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72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Rule of thumb: one energetic element per surface.</a:t>
            </a:r>
          </a:p>
        </p:txBody>
      </p:sp>
    </p:spTree>
    <p:extLst>
      <p:ext uri="{BB962C8B-B14F-4D97-AF65-F5344CB8AC3E}">
        <p14:creationId xmlns:p14="http://schemas.microsoft.com/office/powerpoint/2010/main" val="2091510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587E6-0E5D-475F-8457-6E219DE1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PROMOVA  /  VISUAL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B0305-7875-436C-BFA5-D54976A5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AA399-A61B-49ED-94F3-8C0EAFC9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30A83-9037-4A73-AA51-6EDC9FE5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389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FOUNDATION /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16E44-0206-409A-BC16-F5AFB95B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638925"/>
            <a:ext cx="2152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PROGRESS YOU CAN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6C565-2B5B-422E-AF01-CB1BE032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6211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Typography and components should feel calm, then decisive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73195-8E0C-4739-83C5-1C09F8D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708E"/>
                </a:solidFill>
                <a:latin typeface="Inter"/>
                <a:ea typeface="Inter"/>
                <a:cs typeface="Inter"/>
              </a:rPr>
              <a:t>Inter gives the product a modern, readable voice; rounded surfaces carry the logo's friendliness.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DF4B9-D1F4-48A6-9C42-72FC9F36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8BBB5-0F3B-4601-BAB0-4C3F86C1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TYPE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1A740-CC6B-4A17-8D10-899F2BF6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Inter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30F28-5819-4498-BF1F-A06BC9AF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Make progress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CDA1B-AFE1-4C66-A86D-49742712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708E"/>
                </a:solidFill>
                <a:latin typeface="Inter"/>
                <a:ea typeface="Inter"/>
                <a:cs typeface="Inter"/>
              </a:rPr>
              <a:t>Use sentence case, short lines and clear hierarchy. Let the metrics be loud; let the supporting copy stay quiet.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9D32D-B851-4E70-A48A-3236B294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9D524-8729-4C9E-B107-DC817D36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DISPLAY  44 / 52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20F1B-A4E0-4A26-8215-B99C0F22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HEADING  32 / 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BD936-BC3B-4EBC-AD9A-5BF83585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UI  16 / 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41D9B-144C-4771-BB7A-52A587F6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911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CAPTION  12 / 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A6DAD-E515-4D3F-B1BF-8BD5A1C1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579120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A7EB7-7330-441D-B835-C9067B2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WEBSITE COMPONENTS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F6A70-10E2-403C-87AA-A8C6C64D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Progress is the interface language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9FEF6-CA96-444E-A856-ED94F814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98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1F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Start tracking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8BC413-319E-4F0F-98C3-D75E35A5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521970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4BDD4-5C2E-4E5E-80C5-E5BDE29C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4805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WEEKLY MOMENTUM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143ED-EADD-4A14-9BEB-1771F6D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052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8958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+18%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20E83-94B9-4369-829E-6D022942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BDD"/>
            </a:solidFill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9D77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F9D77"/>
                </a:solidFill>
                <a:latin typeface="Inter"/>
                <a:ea typeface="Inter"/>
                <a:cs typeface="Inter"/>
              </a:rPr>
              <a:t>ON TRACK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6135F-88CD-4E25-96FC-74FDA01D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00525"/>
            <a:ext cx="45339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7DE7F8-AAAD-44EF-B08D-34A7FE50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00525"/>
            <a:ext cx="3257550" cy="857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B1FD1"/>
              </a:gs>
              <a:gs pos="56000">
                <a:srgbClr val="7C60F6"/>
              </a:gs>
              <a:gs pos="100000">
                <a:srgbClr val="A896F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55B7D-F9A9-421A-9B53-5C4AD111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9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7708E"/>
                </a:solidFill>
                <a:latin typeface="Inter"/>
                <a:ea typeface="Inter"/>
                <a:cs typeface="Inter"/>
              </a:rPr>
              <a:t>A single focused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7150E1-78D9-4C7F-B2DC-52D24699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12 px radius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0836A-8255-4633-92B4-94616B3F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3392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8 px grid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8082E0-0EB6-46D1-82EA-4A13AC9D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3392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1 px border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7AAD3F-2BA7-4865-99C7-DEC133F3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72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Rule of thumb: one energetic element per surface.</a:t>
            </a:r>
          </a:p>
        </p:txBody>
      </p:sp>
    </p:spTree>
    <p:extLst>
      <p:ext uri="{BB962C8B-B14F-4D97-AF65-F5344CB8AC3E}">
        <p14:creationId xmlns:p14="http://schemas.microsoft.com/office/powerpoint/2010/main" val="2091510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587E6-0E5D-475F-8457-6E219DE1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PROMOVA  /  VISUAL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B0305-7875-436C-BFA5-D54976A5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AA399-A61B-49ED-94F3-8C0EAFC9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30A83-9037-4A73-AA51-6EDC9FE5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389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FOUNDATION / V0.1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16E44-0206-409A-BC16-F5AFB95B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638925"/>
            <a:ext cx="2152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PROGRESS YOU CAN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6C565-2B5B-422E-AF01-CB1BE032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6211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Typography and components should feel calm, then decisive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73195-8E0C-4739-83C5-1C09F8D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708E"/>
                </a:solidFill>
                <a:latin typeface="Inter"/>
                <a:ea typeface="Inter"/>
                <a:cs typeface="Inter"/>
              </a:rPr>
              <a:t>Inter gives the product a modern, readable voice; rounded surfaces carry the logo's friendliness.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DF4B9-D1F4-48A6-9C42-72FC9F36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8BBB5-0F3B-4601-BAB0-4C3F86C1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TYPE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1A740-CC6B-4A17-8D10-899F2BF6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Inter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30F28-5819-4498-BF1F-A06BC9AF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Make progress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CDA1B-AFE1-4C66-A86D-49742712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708E"/>
                </a:solidFill>
                <a:latin typeface="Inter"/>
                <a:ea typeface="Inter"/>
                <a:cs typeface="Inter"/>
              </a:rPr>
              <a:t>Use sentence case, short lines and clear hierarchy. Let the metrics be loud; let the supporting copy stay quiet.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9D32D-B851-4E70-A48A-3236B294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9D524-8729-4C9E-B107-DC817D36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DISPLAY  44 / 52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20F1B-A4E0-4A26-8215-B99C0F22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HEADING  32 / 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BD936-BC3B-4EBC-AD9A-5BF83585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UI  16 / 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41D9B-144C-4771-BB7A-52A587F6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911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CAPTION  12 / 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A6DAD-E515-4D3F-B1BF-8BD5A1C1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579120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A7EB7-7330-441D-B835-C9067B2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WEBSITE COMPONENTS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F6A70-10E2-403C-87AA-A8C6C64D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Progress is the interface language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9FEF6-CA96-444E-A856-ED94F814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98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1F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Start tracking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8BC413-319E-4F0F-98C3-D75E35A5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521970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4BDD4-5C2E-4E5E-80C5-E5BDE29C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4805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WEEKLY MOMENTUM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143ED-EADD-4A14-9BEB-1771F6D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052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8958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+18%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20E83-94B9-4369-829E-6D022942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BDD"/>
            </a:solidFill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9D77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F9D77"/>
                </a:solidFill>
                <a:latin typeface="Inter"/>
                <a:ea typeface="Inter"/>
                <a:cs typeface="Inter"/>
              </a:rPr>
              <a:t>ON TRACK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6135F-88CD-4E25-96FC-74FDA01D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00525"/>
            <a:ext cx="45339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7DE7F8-AAAD-44EF-B08D-34A7FE50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00525"/>
            <a:ext cx="3257550" cy="857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B1FD1"/>
              </a:gs>
              <a:gs pos="56000">
                <a:srgbClr val="7C60F6"/>
              </a:gs>
              <a:gs pos="100000">
                <a:srgbClr val="A896F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55B7D-F9A9-421A-9B53-5C4AD111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9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75">
                <a:solidFill>
                  <a:srgbClr val="67708E"/>
                </a:solidFill>
                <a:latin typeface="Inter"/>
                <a:ea typeface="Inter"/>
                <a:cs typeface="Inter"/>
              </a:rPr>
              <a:t>A single focused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7150E1-78D9-4C7F-B2DC-52D24699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12 px radius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0836A-8255-4633-92B4-94616B3F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3392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8 px grid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8082E0-0EB6-46D1-82EA-4A13AC9D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3392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1 px border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7AAD3F-2BA7-4865-99C7-DEC133F3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72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Rule of thumb: one energetic element per surface.</a:t>
            </a:r>
          </a:p>
        </p:txBody>
      </p:sp>
    </p:spTree>
    <p:extLst>
      <p:ext uri="{BB962C8B-B14F-4D97-AF65-F5344CB8AC3E}">
        <p14:creationId xmlns:p14="http://schemas.microsoft.com/office/powerpoint/2010/main" val="2091510484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4B1FD1"/>
            </a:gs>
            <a:gs pos="56000">
              <a:srgbClr val="7C60F6"/>
            </a:gs>
            <a:gs pos="100000">
              <a:srgbClr val="A89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FC8CDA-AF33-4D26-81DE-AF937133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2095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7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C4F6C-F33B-422B-8927-2502D91A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1EE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1EEFF"/>
                </a:solidFill>
                <a:latin typeface="Inter"/>
                <a:ea typeface="Inter"/>
                <a:cs typeface="Inter"/>
              </a:rPr>
              <a:t>PROMOVA  /  VISUAL IDENTITY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01AE3-F0D4-4A49-8688-52D4F23A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Start with the foundation, then scale the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D76B2-55AF-48C2-AC28-10493057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1EEFF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F1EEFF"/>
                </a:solidFill>
                <a:latin typeface="Inter"/>
                <a:ea typeface="Inter"/>
                <a:cs typeface="Inter"/>
              </a:rPr>
              <a:t>One system across the product, the website and the story we tell in the room.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B4CF4-C590-45C7-AE10-FBC2D55E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4003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B6A80-078B-4DD4-B343-D3914A8B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48C9F-04A2-48CD-964E-A5A533BC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8C6C8-01A5-462B-9B24-07F754A5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708E"/>
                </a:solidFill>
                <a:latin typeface="Inter"/>
                <a:ea typeface="Inter"/>
                <a:cs typeface="Inter"/>
              </a:rPr>
              <a:t>Lock the transparent assets, color tokens, type scale and usage rules.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7DA3D-E935-4B83-BF7D-ADE2ED92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5C837-5C8B-42B5-8AE9-2767A2DA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5A1E3-AB7D-4C13-8329-1A989DD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43125"/>
            <a:ext cx="24003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0402A-6E86-412F-A44E-72945878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71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21D65-D8C8-4A68-93AB-17FDC80F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47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Product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D266D-9614-4D1A-BFCD-7C37F1B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67075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811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708E"/>
                </a:solidFill>
                <a:latin typeface="Inter"/>
                <a:ea typeface="Inter"/>
                <a:cs typeface="Inter"/>
              </a:rPr>
              <a:t>Apply the system to navigation, mobile header, buttons, states and progress views.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E2995-B71D-400F-A308-910BDA6A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3862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1BD97-506E-4DB8-A520-CF1FC20E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DELIVERABLE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55FD3-750A-4A6A-891E-E4F036C1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43125"/>
            <a:ext cx="24003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5FB91-E496-4411-9511-EF254FE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71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91DD7-4586-457A-9AEB-F0795D43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47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Website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EDEFC-7A2A-49F6-A4AE-37E8E323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67075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1628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708E"/>
                </a:solidFill>
                <a:latin typeface="Inter"/>
                <a:ea typeface="Inter"/>
                <a:cs typeface="Inter"/>
              </a:rPr>
              <a:t>Rework hero, navigation, proof modules and conversion moments around visible progress.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08528-0D92-4DDB-BBBB-ACF102A7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3862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8AC5C-3BD7-47D4-A626-85B5F3F5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2435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DELIVERABLE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3B417-676D-4813-9A95-4B5C4FB0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43125"/>
            <a:ext cx="24003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9918D-70D7-479D-95D1-7A6F75DD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71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7128E-0C9F-42AA-8416-DFA7120E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Pitch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5A1C8D-2ADA-4A39-9B0B-CCC9FB2F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67075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708E"/>
                </a:solidFill>
                <a:latin typeface="Inter"/>
                <a:ea typeface="Inter"/>
                <a:cs typeface="Inter"/>
              </a:rPr>
              <a:t>Create title, metrics, chapter divider and closing templates with the same rhythm.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C5D92-B65B-4DAE-874B-5678A31F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D741E5-F924-4F87-B737-E82BEF89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2435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DELIVERABLE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1AB05D-E0D8-470B-AE59-87A2D10B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1EEFF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F1EEFF"/>
                </a:solidFill>
                <a:latin typeface="Inter"/>
                <a:ea typeface="Inter"/>
                <a:cs typeface="Inter"/>
              </a:rPr>
              <a:t>GUARDRAILS FOR EVERY SURFACE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8961F5-B66B-4ABA-BD2E-2645EE8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KEEP  proportions intact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2BE361-B338-4971-870E-7E7F57FA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43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PAIR  violet with ink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5F6D16-CEFC-4254-AE44-FE0CDB10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43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SIGNAL  gradient = movement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78C3D4-6DED-4BB9-B010-9D6F3528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43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PROVE  evidence before decoration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7A8854-14EE-4377-8612-A79F1B9F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58C6BB-8855-4973-B7C6-8735B22D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1EEFF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F1EEFF"/>
                </a:solidFill>
                <a:latin typeface="Inter"/>
                <a:ea typeface="Inter"/>
                <a:cs typeface="Inter"/>
              </a:rPr>
              <a:t>Next review point: after the first implementation PR, validate the logo at mobile, desktop, dark-surface and export sizes.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5825FD-F9C2-4160-A574-494FF108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ONE SYSTEM. MANY MOMENTS. SAME FEELING.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9A4184-C61E-4EFE-871E-0C371DA3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PROMOVA</a:t>
            </a:r>
          </a:p>
        </p:txBody>
      </p:sp>
    </p:spTree>
    <p:extLst>
      <p:ext uri="{BB962C8B-B14F-4D97-AF65-F5344CB8AC3E}">
        <p14:creationId xmlns:p14="http://schemas.microsoft.com/office/powerpoint/2010/main" val="1509824515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4B1FD1"/>
            </a:gs>
            <a:gs pos="56000">
              <a:srgbClr val="7C60F6"/>
            </a:gs>
            <a:gs pos="100000">
              <a:srgbClr val="A89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FC8CDA-AF33-4D26-81DE-AF937133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2095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7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C4F6C-F33B-422B-8927-2502D91A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1EE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1EEFF"/>
                </a:solidFill>
                <a:latin typeface="Inter"/>
                <a:ea typeface="Inter"/>
                <a:cs typeface="Inter"/>
              </a:rPr>
              <a:t>PROMOVA  /  VISUAL IDENTITY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01AE3-F0D4-4A49-8688-52D4F23A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Start with the foundation, then scale the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D76B2-55AF-48C2-AC28-10493057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1EEFF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F1EEFF"/>
                </a:solidFill>
                <a:latin typeface="Inter"/>
                <a:ea typeface="Inter"/>
                <a:cs typeface="Inter"/>
              </a:rPr>
              <a:t>One system across the product, the website and the story we tell in the room.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B4CF4-C590-45C7-AE10-FBC2D55E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4003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B6A80-078B-4DD4-B343-D3914A8B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48C9F-04A2-48CD-964E-A5A533BC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8C6C8-01A5-462B-9B24-07F754A5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708E"/>
                </a:solidFill>
                <a:latin typeface="Inter"/>
                <a:ea typeface="Inter"/>
                <a:cs typeface="Inter"/>
              </a:rPr>
              <a:t>Lock the transparent assets, color tokens, type scale and usage rules.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7DA3D-E935-4B83-BF7D-ADE2ED92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5C837-5C8B-42B5-8AE9-2767A2DA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5A1E3-AB7D-4C13-8329-1A989DD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43125"/>
            <a:ext cx="24003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0402A-6E86-412F-A44E-72945878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71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21D65-D8C8-4A68-93AB-17FDC80F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47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Product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D266D-9614-4D1A-BFCD-7C37F1B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67075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811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708E"/>
                </a:solidFill>
                <a:latin typeface="Inter"/>
                <a:ea typeface="Inter"/>
                <a:cs typeface="Inter"/>
              </a:rPr>
              <a:t>Apply the system to navigation, mobile header, buttons, states and progress views.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E2995-B71D-400F-A308-910BDA6A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3862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1BD97-506E-4DB8-A520-CF1FC20E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DELIVERABLE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55FD3-750A-4A6A-891E-E4F036C1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43125"/>
            <a:ext cx="24003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5FB91-E496-4411-9511-EF254FE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71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91DD7-4586-457A-9AEB-F0795D43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47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Website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EDEFC-7A2A-49F6-A4AE-37E8E323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67075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1628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708E"/>
                </a:solidFill>
                <a:latin typeface="Inter"/>
                <a:ea typeface="Inter"/>
                <a:cs typeface="Inter"/>
              </a:rPr>
              <a:t>Rework hero, navigation, proof modules and conversion moments around visible progress.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08528-0D92-4DDB-BBBB-ACF102A7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3862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8AC5C-3BD7-47D4-A626-85B5F3F5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2435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DELIVERABLE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3B417-676D-4813-9A95-4B5C4FB0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43125"/>
            <a:ext cx="24003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9918D-70D7-479D-95D1-7A6F75DD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71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7128E-0C9F-42AA-8416-DFA7120E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Pitch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5A1C8D-2ADA-4A39-9B0B-CCC9FB2F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67075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708E"/>
                </a:solidFill>
                <a:latin typeface="Inter"/>
                <a:ea typeface="Inter"/>
                <a:cs typeface="Inter"/>
              </a:rPr>
              <a:t>Create title, metrics, chapter divider and closing templates with the same rhythm.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C5D92-B65B-4DAE-874B-5678A31F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D741E5-F924-4F87-B737-E82BEF89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2435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DELIVERABLE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1AB05D-E0D8-470B-AE59-87A2D10B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1EEFF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F1EEFF"/>
                </a:solidFill>
                <a:latin typeface="Inter"/>
                <a:ea typeface="Inter"/>
                <a:cs typeface="Inter"/>
              </a:rPr>
              <a:t>GUARDRAILS FOR EVERY SURFACE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8961F5-B66B-4ABA-BD2E-2645EE8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KEEP  proportions intact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2BE361-B338-4971-870E-7E7F57FA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43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PAIR  violet with ink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5F6D16-CEFC-4254-AE44-FE0CDB10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43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SIGNAL  gradient = movement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78C3D4-6DED-4BB9-B010-9D6F3528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43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PROVE  evidence before decoration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7A8854-14EE-4377-8612-A79F1B9F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58C6BB-8855-4973-B7C6-8735B22D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1EEFF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F1EEFF"/>
                </a:solidFill>
                <a:latin typeface="Inter"/>
                <a:ea typeface="Inter"/>
                <a:cs typeface="Inter"/>
              </a:rPr>
              <a:t>Next review point: after the first implementation PR, validate the logo at mobile, desktop, dark-surface and export sizes.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5825FD-F9C2-4160-A574-494FF108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ONE SYSTEM. MANY MOMENTS. SAME FEELING.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9A4184-C61E-4EFE-871E-0C371DA3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PROMOVA</a:t>
            </a:r>
          </a:p>
        </p:txBody>
      </p:sp>
    </p:spTree>
    <p:extLst>
      <p:ext uri="{BB962C8B-B14F-4D97-AF65-F5344CB8AC3E}">
        <p14:creationId xmlns:p14="http://schemas.microsoft.com/office/powerpoint/2010/main" val="1509824515"/>
      </p:ext>
    </p:extLst>
  </p:cSld>
</p:sld>
</file>

<file path=ppt/theme/theme1.xml><?xml version="1.0" encoding="utf-8"?>
<a:theme xmlns:a="http://schemas.openxmlformats.org/drawingml/2006/main" name="ChatGPT">
  <a:themeElements>
    <a:clrScheme name="Promova Progress">
      <a:dk1>
        <a:srgbClr val="0D102B"/>
      </a:dk1>
      <a:lt1>
        <a:srgbClr val="FFFFFF"/>
      </a:lt1>
      <a:dk2>
        <a:srgbClr val="111744"/>
      </a:dk2>
      <a:lt2>
        <a:srgbClr val="DED5FF"/>
      </a:lt2>
      <a:accent1>
        <a:srgbClr val="7C60F6"/>
      </a:accent1>
      <a:accent2>
        <a:srgbClr val="4B1FD1"/>
      </a:accent2>
      <a:accent3>
        <a:srgbClr val="A896FF"/>
      </a:accent3>
      <a:accent4>
        <a:srgbClr val="1F9D77"/>
      </a:accent4>
      <a:accent5>
        <a:srgbClr val="CF8A2C"/>
      </a:accent5>
      <a:accent6>
        <a:srgbClr val="C85263"/>
      </a:accent6>
      <a:hlink>
        <a:srgbClr val="4B1FD1"/>
      </a:hlink>
      <a:folHlink>
        <a:srgbClr val="5B34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mova Progr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2026-09-03T02:34:00.3560000Z</dcterms:created>
  <dcterms:modified xsi:type="dcterms:W3CDTF">2026-09-03T02:34:00.3560000Z</dcterms:modified>
</coreProperties>
</file>